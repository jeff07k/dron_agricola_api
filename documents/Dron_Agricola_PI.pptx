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7BC6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7BC62"/>
                </a:solidFill>
                <a:latin typeface="Arial"/>
              </a:rPr>
              <a:t>Valores promedio del MPU6050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 absoluto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Accel X</c:v>
                  </c:pt>
                  <c:pt idx="1">
                    <c:v>Accel Y</c:v>
                  </c:pt>
                  <c:pt idx="2">
                    <c:v>Accel Z</c:v>
                  </c:pt>
                  <c:pt idx="3">
                    <c:v>Gyro X</c:v>
                  </c:pt>
                  <c:pt idx="4">
                    <c:v>Gyro Y</c:v>
                  </c:pt>
                  <c:pt idx="5">
                    <c:v>Gyro Z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0.55</c:v>
                </c:pt>
                <c:pt idx="1">
                  <c:v>1.1</c:v>
                </c:pt>
                <c:pt idx="2">
                  <c:v>9.74</c:v>
                </c:pt>
                <c:pt idx="3">
                  <c:v>0.055</c:v>
                </c:pt>
                <c:pt idx="4">
                  <c:v>0.11</c:v>
                </c:pt>
                <c:pt idx="5">
                  <c:v>0.165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C8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5F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C8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3A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43524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457200"/>
            <a:ext cx="2194560" cy="320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1A"/>
                </a:solidFill>
              </a:rPr>
              <a:t>PROYECTO INTEGRADOR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🚁 DRON AGRÍCOLA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y Monitoreo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Dispersión Automatizada de Semillas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5029200" cy="36576"/>
          </a:xfrm>
          <a:prstGeom prst="rect">
            <a:avLst/>
          </a:prstGeom>
          <a:solidFill>
            <a:srgbClr val="3D7A3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926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Jeffrey A. Bejarano Parada  •  Cód. 67001609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  •  FastAPI  • 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80760" y="548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834640" cy="402336"/>
          </a:xfrm>
          <a:prstGeom prst="rect">
            <a:avLst/>
          </a:prstGeom>
          <a:solidFill>
            <a:srgbClr val="2E4A2E"/>
          </a:solidFill>
          <a:ln w="6350">
            <a:solidFill>
              <a:srgbClr val="3D7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960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508760"/>
            <a:ext cx="2834640" cy="402336"/>
          </a:xfrm>
          <a:prstGeom prst="rect">
            <a:avLst/>
          </a:prstGeom>
          <a:solidFill>
            <a:srgbClr val="2E4A2E"/>
          </a:solidFill>
          <a:ln w="6350">
            <a:solidFill>
              <a:srgbClr val="3D7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50876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057400"/>
            <a:ext cx="2834640" cy="402336"/>
          </a:xfrm>
          <a:prstGeom prst="rect">
            <a:avLst/>
          </a:prstGeom>
          <a:solidFill>
            <a:srgbClr val="2E4A2E"/>
          </a:solidFill>
          <a:ln w="6350">
            <a:solidFill>
              <a:srgbClr val="3D7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0574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606040"/>
            <a:ext cx="2834640" cy="402336"/>
          </a:xfrm>
          <a:prstGeom prst="rect">
            <a:avLst/>
          </a:prstGeom>
          <a:solidFill>
            <a:srgbClr val="2E4A2E"/>
          </a:solidFill>
          <a:ln w="6350">
            <a:solidFill>
              <a:srgbClr val="3D7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6060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Kotlin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3154680"/>
            <a:ext cx="2834640" cy="402336"/>
          </a:xfrm>
          <a:prstGeom prst="rect">
            <a:avLst/>
          </a:prstGeom>
          <a:solidFill>
            <a:srgbClr val="2E4A2E"/>
          </a:solidFill>
          <a:ln w="6350">
            <a:solidFill>
              <a:srgbClr val="3D7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315468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3703320"/>
            <a:ext cx="2834640" cy="402336"/>
          </a:xfrm>
          <a:prstGeom prst="rect">
            <a:avLst/>
          </a:prstGeom>
          <a:solidFill>
            <a:srgbClr val="2E4A2E"/>
          </a:solidFill>
          <a:ln w="6350">
            <a:solidFill>
              <a:srgbClr val="3D7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37033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+ MySQL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 DEL PROYECTO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EAF2E3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9144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sistema completo de control y monitoreo de un dron agrícola terrestre que permita la dispersión automatizada de semillas, registrando en tiempo real datos del sensor inercial MPU6050 para su análisis estadístico y visualización.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402336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Hardware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ESP32 con MPU6050, motores L298N y servos para control físico del dron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103120"/>
            <a:ext cx="402336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 Android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514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por Bluetooth en tiempo real con envío de datos al servidor FastAPI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91840"/>
            <a:ext cx="402336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83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Backend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703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 FastAPI con CRUD completo, base de datos MySQL en producción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291840"/>
            <a:ext cx="402336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383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Análisis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703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web, exportación Excel y reportes estadísticos con Power BI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3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SISTEMA — 5 CAPAS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94944"/>
          </a:xfrm>
          <a:prstGeom prst="rect">
            <a:avLst/>
          </a:prstGeom>
          <a:solidFill>
            <a:srgbClr val="1E3A1E"/>
          </a:solidFill>
          <a:ln w="12700">
            <a:solidFill>
              <a:srgbClr val="3D7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502920" cy="694944"/>
          </a:xfrm>
          <a:prstGeom prst="rect">
            <a:avLst/>
          </a:prstGeom>
          <a:solidFill>
            <a:srgbClr val="3D7A3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3075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MPU6050 · L298N × 2 · Servo SG90 ×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6550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7A3E"/>
                </a:solidFill>
              </a:rPr>
              <a:t>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764792"/>
            <a:ext cx="8503920" cy="694944"/>
          </a:xfrm>
          <a:prstGeom prst="rect">
            <a:avLst/>
          </a:prstGeom>
          <a:solidFill>
            <a:srgbClr val="1E3A1E"/>
          </a:solidFill>
          <a:ln w="12700">
            <a:solidFill>
              <a:srgbClr val="4A8F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764792"/>
            <a:ext cx="502920" cy="694944"/>
          </a:xfrm>
          <a:prstGeom prst="rect">
            <a:avLst/>
          </a:prstGeom>
          <a:solidFill>
            <a:srgbClr val="4A8F4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764792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837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1122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· Bluetooth SPP · HTTP Client · Corrutinas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45973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8F4B"/>
                </a:solidFill>
              </a:rPr>
              <a:t>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569464"/>
            <a:ext cx="8503920" cy="694944"/>
          </a:xfrm>
          <a:prstGeom prst="rect">
            <a:avLst/>
          </a:prstGeom>
          <a:solidFill>
            <a:srgbClr val="1E3A1E"/>
          </a:solidFill>
          <a:ln w="12700">
            <a:solidFill>
              <a:srgbClr val="5AA6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569464"/>
            <a:ext cx="502920" cy="694944"/>
          </a:xfrm>
          <a:prstGeom prst="rect">
            <a:avLst/>
          </a:prstGeom>
          <a:solidFill>
            <a:srgbClr val="5AA65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569464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2642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91693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 · SQLModel · Pydantic — Render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26440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A65B"/>
                </a:solidFill>
              </a:rPr>
              <a:t>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374136"/>
            <a:ext cx="8503920" cy="694944"/>
          </a:xfrm>
          <a:prstGeom prst="rect">
            <a:avLst/>
          </a:prstGeom>
          <a:solidFill>
            <a:srgbClr val="1E3A1E"/>
          </a:solidFill>
          <a:ln w="12700">
            <a:solidFill>
              <a:srgbClr val="6DBE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374136"/>
            <a:ext cx="502920" cy="694944"/>
          </a:xfrm>
          <a:prstGeom prst="rect">
            <a:avLst/>
          </a:prstGeom>
          <a:solidFill>
            <a:srgbClr val="6DBE6F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374136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721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(dev) · Clever Cloud MySQL (producción)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406908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BE6F"/>
                </a:solidFill>
              </a:rPr>
              <a:t>▼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4178808"/>
            <a:ext cx="8503920" cy="694944"/>
          </a:xfrm>
          <a:prstGeom prst="rect">
            <a:avLst/>
          </a:prstGeom>
          <a:solidFill>
            <a:srgbClr val="1E3A1E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178808"/>
            <a:ext cx="502920" cy="69494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178808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45262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HTML/CSS/JS · pandas · scipy · Power BI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MODELOS Y OPERACIONES CRUD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657600" cy="3840480"/>
          </a:xfrm>
          <a:prstGeom prst="rect">
            <a:avLst/>
          </a:prstGeom>
          <a:solidFill>
            <a:srgbClr val="1A2E1A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3657600" cy="4114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SensorData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      : int (PK, autoincrement)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  : datetime (auto)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disparo     : int (0=inactivo, 1=activo)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accel_x     : float (m/s²)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accel_y     : float (m/s²)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accel_z     : float (m/s²)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gyro_x      : float (rad/s)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gyro_y      : float (rad/s)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gyro_z      : float (rad/s)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51960" y="914400"/>
            <a:ext cx="45720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914400"/>
            <a:ext cx="713232" cy="67665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914400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0" y="969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/api/sensor-data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0" y="1234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lectura del MPU6050 enviada por la app Android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51960" y="1682496"/>
            <a:ext cx="45720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682496"/>
            <a:ext cx="713232" cy="67665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682496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/api/sensor-data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20025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todos los registros almacenados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51960" y="2450592"/>
            <a:ext cx="45720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2450592"/>
            <a:ext cx="713232" cy="67665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2450592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2505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/api/sensor-data/{id}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0" y="27706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un registro específico por su 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51960" y="3218688"/>
            <a:ext cx="45720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51960" y="3218688"/>
            <a:ext cx="713232" cy="6766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251960" y="3218688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0" y="3273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/api/sensor-data/{id}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0" y="35387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una lectura puntual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51960" y="3986784"/>
            <a:ext cx="45720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51960" y="3986784"/>
            <a:ext cx="713232" cy="67665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3986784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0" y="4041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/api/export-excel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0" y="43068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todos los datos como archivo .xlsx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DESPLEGADO — DEMO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Dashboard Web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HTML / CSS / JS embebido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Gráficas en tiempo real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Buscador integrado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Estilos aplicados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6974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269748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Swagger UI (/docs)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Documentación automática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Endpoints interactivos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0" y="23317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Pruebas desde el navegador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2743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Validación visible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960120"/>
            <a:ext cx="26974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60120"/>
            <a:ext cx="269748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281928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Export Excel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1508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GET /api/export-excel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1920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Hoja: Datos Sensor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23317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Hoja: Estadística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2743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Compatible con Power BI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383280"/>
            <a:ext cx="8503920" cy="6400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URL Producción: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3383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https://[tu-app].onrender.com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Free tier: ~30s cold start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4160520"/>
            <a:ext cx="8503920" cy="594360"/>
          </a:xfrm>
          <a:prstGeom prst="rect">
            <a:avLst/>
          </a:prstGeom>
          <a:solidFill>
            <a:srgbClr val="EAF2E3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605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github.com/Jeff07K/DRON_AGRICOLA_API   —   28 commits   •   Python 37%   •   Kotlin 29%   •   HTML 21%   •   C++ 13%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3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ANÁLISIS ESTADÍSTICO Y DATASET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1440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246120" cy="749808"/>
          </a:xfrm>
          <a:prstGeom prst="rect">
            <a:avLst/>
          </a:prstGeom>
          <a:solidFill>
            <a:srgbClr val="1E3A1E"/>
          </a:solidFill>
          <a:ln w="9525">
            <a:solidFill>
              <a:srgbClr val="3D7A3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77840" y="91440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37960" y="9692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37960" y="1316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ejes MPU6050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77840" y="1773936"/>
            <a:ext cx="3246120" cy="749808"/>
          </a:xfrm>
          <a:prstGeom prst="rect">
            <a:avLst/>
          </a:prstGeom>
          <a:solidFill>
            <a:srgbClr val="1E3A1E"/>
          </a:solidFill>
          <a:ln w="9525">
            <a:solidFill>
              <a:srgbClr val="3D7A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7840" y="1773936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37960" y="18288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37960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X vs 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2633472"/>
            <a:ext cx="3246120" cy="749808"/>
          </a:xfrm>
          <a:prstGeom prst="rect">
            <a:avLst/>
          </a:prstGeom>
          <a:solidFill>
            <a:srgbClr val="1E3A1E"/>
          </a:solidFill>
          <a:ln w="9525">
            <a:solidFill>
              <a:srgbClr val="3D7A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2633472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R²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37960" y="26883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37960" y="3035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B1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3493008"/>
            <a:ext cx="3246120" cy="749808"/>
          </a:xfrm>
          <a:prstGeom prst="rect">
            <a:avLst/>
          </a:prstGeom>
          <a:solidFill>
            <a:srgbClr val="1E3A1E"/>
          </a:solidFill>
          <a:ln w="9525">
            <a:solidFill>
              <a:srgbClr val="3D7A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3493008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xlsx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537960" y="35478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37960" y="3895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hojas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Visualización adicional en Power BI Desktop con gráficas de línea temporal, dispersión, barras KPI y tarjetas de promedio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VALIDACIONES Y BUENAS PRÁCTICAS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Backend (FastAPI)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536192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4996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automática con Pydantic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" y="2048256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0116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422 descriptivo en JSON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2560320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5237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DB con patrón yield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3072384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0358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sensibles en .env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3584448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5478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configurado correctamente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" y="4096512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40599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documentados automáticamente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96012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960120"/>
            <a:ext cx="2697480" cy="457200"/>
          </a:xfrm>
          <a:prstGeom prst="rect">
            <a:avLst/>
          </a:prstGeom>
          <a:solidFill>
            <a:srgbClr val="3D7A3E"/>
          </a:solidFill>
          <a:ln/>
        </p:spPr>
      </p:sp>
      <p:sp>
        <p:nvSpPr>
          <p:cNvPr id="21" name="Text 19"/>
          <p:cNvSpPr/>
          <p:nvPr/>
        </p:nvSpPr>
        <p:spPr>
          <a:xfrm>
            <a:off x="3355848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Frontend (HTML)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55848" y="1536192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3630168" y="14996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con atributo required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2048256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Text 23"/>
          <p:cNvSpPr/>
          <p:nvPr/>
        </p:nvSpPr>
        <p:spPr>
          <a:xfrm>
            <a:off x="3630168" y="20116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number, date, text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55848" y="2560320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3630168" y="25237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min/max en inputs numéricos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55848" y="3072384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3630168" y="30358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 al usuario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55848" y="3584448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1" name="Text 29"/>
          <p:cNvSpPr/>
          <p:nvPr/>
        </p:nvSpPr>
        <p:spPr>
          <a:xfrm>
            <a:off x="3630168" y="35478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integrado en navbar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55848" y="4096512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3" name="Text 31"/>
          <p:cNvSpPr/>
          <p:nvPr/>
        </p:nvSpPr>
        <p:spPr>
          <a:xfrm>
            <a:off x="3630168" y="40599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CSS consistentes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96012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960120"/>
            <a:ext cx="2697480" cy="457200"/>
          </a:xfrm>
          <a:prstGeom prst="rect">
            <a:avLst/>
          </a:prstGeom>
          <a:solidFill>
            <a:srgbClr val="5AA65B"/>
          </a:solidFill>
          <a:ln/>
        </p:spPr>
      </p:sp>
      <p:sp>
        <p:nvSpPr>
          <p:cNvPr id="36" name="Text 34"/>
          <p:cNvSpPr/>
          <p:nvPr/>
        </p:nvSpPr>
        <p:spPr>
          <a:xfrm>
            <a:off x="6281928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Repositorio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81928" y="1536192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8" name="Text 36"/>
          <p:cNvSpPr/>
          <p:nvPr/>
        </p:nvSpPr>
        <p:spPr>
          <a:xfrm>
            <a:off x="6556248" y="14996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commits con historial limpio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81928" y="2048256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0" name="Text 38"/>
          <p:cNvSpPr/>
          <p:nvPr/>
        </p:nvSpPr>
        <p:spPr>
          <a:xfrm>
            <a:off x="6556248" y="20116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con documentación completa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81928" y="2560320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2" name="Text 40"/>
          <p:cNvSpPr/>
          <p:nvPr/>
        </p:nvSpPr>
        <p:spPr>
          <a:xfrm>
            <a:off x="6556248" y="25237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5 capas documentada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81928" y="3072384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4" name="Text 42"/>
          <p:cNvSpPr/>
          <p:nvPr/>
        </p:nvSpPr>
        <p:spPr>
          <a:xfrm>
            <a:off x="6556248" y="30358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API completa en README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81928" y="3584448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6" name="Text 44"/>
          <p:cNvSpPr/>
          <p:nvPr/>
        </p:nvSpPr>
        <p:spPr>
          <a:xfrm>
            <a:off x="6556248" y="35478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configurado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81928" y="4096512"/>
            <a:ext cx="201168" cy="20116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8" name="Text 46"/>
          <p:cNvSpPr/>
          <p:nvPr/>
        </p:nvSpPr>
        <p:spPr>
          <a:xfrm>
            <a:off x="6556248" y="40599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actualizado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PROYECTO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🚁 Dron Agrícola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01952" cy="384048"/>
          </a:xfrm>
          <a:prstGeom prst="rect">
            <a:avLst/>
          </a:prstGeom>
          <a:solidFill>
            <a:srgbClr val="2C5F2D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SQLModel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42032" y="1828800"/>
            <a:ext cx="1901952" cy="384048"/>
          </a:xfrm>
          <a:prstGeom prst="rect">
            <a:avLst/>
          </a:prstGeom>
          <a:solidFill>
            <a:srgbClr val="2C5F2D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8288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MPU6050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26864" y="1828800"/>
            <a:ext cx="1901952" cy="384048"/>
          </a:xfrm>
          <a:prstGeom prst="rect">
            <a:avLst/>
          </a:prstGeom>
          <a:solidFill>
            <a:srgbClr val="2C5F2D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18288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Kotlin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711696" y="1828800"/>
            <a:ext cx="1901952" cy="384048"/>
          </a:xfrm>
          <a:prstGeom prst="rect">
            <a:avLst/>
          </a:prstGeom>
          <a:solidFill>
            <a:srgbClr val="2C5F2D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11696" y="18288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pandas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0" y="2377440"/>
            <a:ext cx="5486400" cy="36576"/>
          </a:xfrm>
          <a:prstGeom prst="rect">
            <a:avLst/>
          </a:prstGeom>
          <a:solidFill>
            <a:srgbClr val="3D7A3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60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arquitectura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88920" y="2560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78892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75488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20840" y="2560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72084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41F1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Jeffrey Alejandro Bejarano Parada  •  Cód. 67001609  •  Desarrollo de Software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github.com/Jeff07K/DRON_AGRICOLA_API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97BC6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Dron Agrícola — Proyecto Integrador</dc:title>
  <dc:subject>PptxGenJS Presentation</dc:subject>
  <dc:creator>Jeffrey Alejandro Bejarano Parada</dc:creator>
  <cp:lastModifiedBy>Jeffrey Alejandro Bejarano Parada</cp:lastModifiedBy>
  <cp:revision>1</cp:revision>
  <dcterms:created xsi:type="dcterms:W3CDTF">2026-06-05T19:50:35Z</dcterms:created>
  <dcterms:modified xsi:type="dcterms:W3CDTF">2026-06-05T19:50:35Z</dcterms:modified>
</cp:coreProperties>
</file>