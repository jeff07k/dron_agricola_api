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charts/chart2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55A5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55A5"/>
                </a:solidFill>
                <a:latin typeface="Arial"/>
              </a:rPr>
              <a:t>Medias — Acelerómetro (g)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(g)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55A5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Accel X</c:v>
                  </c:pt>
                  <c:pt idx="1">
                    <c:v>Accel Y</c:v>
                  </c:pt>
                  <c:pt idx="2">
                    <c:v>Accel Z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0.0389</c:v>
                </c:pt>
                <c:pt idx="1">
                  <c:v>0.0572</c:v>
                </c:pt>
                <c:pt idx="2">
                  <c:v>1.0336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182880" y="1572768"/>
      <a:ext cx="2834640" cy="2103120"/>
    </a:xfrm>
    <a:prstGeom prst="rect">
      <a:avLst/>
    </a:prstGeom>
    <a:solidFill>
      <a:srgbClr val="F2F2F2"/>
    </a:solidFill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55A5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55A5"/>
                </a:solidFill>
                <a:latin typeface="Arial"/>
              </a:rPr>
              <a:t>Medias — Giroscopio (°/s)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(°/s)</c:v>
                </c:pt>
              </c:strCache>
            </c:strRef>
          </c:tx>
          <c:spPr bwMode="auto">
            <a:prstGeom prst="rect">
              <a:avLst/>
            </a:prstGeom>
            <a:solidFill>
              <a:srgbClr val="ED7D31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Gyro X</c:v>
                  </c:pt>
                  <c:pt idx="1">
                    <c:v>Gyro Y</c:v>
                  </c:pt>
                  <c:pt idx="2">
                    <c:v>Gyro Z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-9.3716</c:v>
                </c:pt>
                <c:pt idx="1">
                  <c:v>0.8503</c:v>
                </c:pt>
                <c:pt idx="2">
                  <c:v>4.9951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3154680" y="1572768"/>
      <a:ext cx="2834640" cy="2103120"/>
    </a:xfrm>
    <a:prstGeom prst="rect">
      <a:avLst/>
    </a:prstGeom>
    <a:solidFill>
      <a:srgbClr val="F2F2F2"/>
    </a:solidFill>
    <a:ln>
      <a:noFill/>
    </a:ln>
    <a:effectLst/>
  </c:sp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55A5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55A5"/>
                </a:solidFill>
                <a:latin typeface="Arial"/>
              </a:rPr>
              <a:t>Varianza por eje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Varianza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B0F0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Sheet1!$A$2:$A$7</c:f>
              <c:multiLvlStrCache>
                <c:ptCount val="6"/>
                <c:lvl>
                  <c:pt idx="0">
                    <c:v>Accel X</c:v>
                  </c:pt>
                  <c:pt idx="1">
                    <c:v>Accel Y</c:v>
                  </c:pt>
                  <c:pt idx="2">
                    <c:v>Accel Z</c:v>
                  </c:pt>
                  <c:pt idx="3">
                    <c:v>Gyro X</c:v>
                  </c:pt>
                  <c:pt idx="4">
                    <c:v>Gyro Y</c:v>
                  </c:pt>
                  <c:pt idx="5">
                    <c:v>Gyro Z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0.0048</c:v>
                </c:pt>
                <c:pt idx="1">
                  <c:v>0.0165</c:v>
                </c:pt>
                <c:pt idx="2">
                  <c:v>0.0011</c:v>
                </c:pt>
                <c:pt idx="3">
                  <c:v>138.29</c:v>
                </c:pt>
                <c:pt idx="4">
                  <c:v>4.684</c:v>
                </c:pt>
                <c:pt idx="5">
                  <c:v>241.8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7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126480" y="1572768"/>
      <a:ext cx="2743200" cy="2103120"/>
    </a:xfrm>
    <a:prstGeom prst="rect">
      <a:avLst/>
    </a:prstGeom>
    <a:solidFill>
      <a:srgbClr val="F2F2F2"/>
    </a:solidFill>
    <a:ln>
      <a:noFill/>
    </a:ln>
    <a:effectLst/>
  </c:sp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850" b="0" i="0" u="none" strike="noStrike">
                <a:solidFill>
                  <a:srgbClr val="0055A5"/>
                </a:solidFill>
                <a:latin typeface="Arial"/>
              </a:defRPr>
            </a:pPr>
            <a:r>
              <a:rPr sz="850" b="0" i="0" u="none" strike="noStrike">
                <a:solidFill>
                  <a:srgbClr val="0055A5"/>
                </a:solidFill>
                <a:latin typeface="Arial"/>
              </a:rPr>
              <a:t>Distribución de frecuencias — Accel X (g)  [n=31]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55A5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0055A5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A0B8E0"/>
              </a:solidFill>
              <a:effectLst/>
            </c:spPr>
          </c:dPt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-0.032 a 0.021</c:v>
                  </c:pt>
                  <c:pt idx="1">
                    <c:v>0.021 a 0.074</c:v>
                  </c:pt>
                  <c:pt idx="2">
                    <c:v>0.074 a 0.288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182880" y="3749040"/>
      <a:ext cx="8686800" cy="96012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900" b="0" i="0" u="none" strike="noStrike">
                <a:solidFill>
                  <a:srgbClr val="0055A5"/>
                </a:solidFill>
                <a:latin typeface="Arial"/>
              </a:defRPr>
            </a:pPr>
            <a:r>
              <a:rPr sz="900" b="0" i="0" u="none" strike="noStrike">
                <a:solidFill>
                  <a:srgbClr val="0055A5"/>
                </a:solidFill>
                <a:latin typeface="Arial"/>
              </a:rPr>
              <a:t>Dispersión Accel X vs Accel Y  (r = 0.178)</a:t>
            </a:r>
            <a:endParaRPr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Datos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55A5"/>
            </a:solidFill>
            <a:ln w="25400" cap="flat">
              <a:solidFill>
                <a:srgbClr val="0055A5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0055A5"/>
              </a:solidFill>
              <a:ln w="9525" cap="flat">
                <a:solidFill>
                  <a:srgbClr val="0055A5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-0.032</c:v>
                </c:pt>
                <c:pt idx="1">
                  <c:v>0.002</c:v>
                </c:pt>
                <c:pt idx="2">
                  <c:v>0.021</c:v>
                </c:pt>
                <c:pt idx="3">
                  <c:v>0.035</c:v>
                </c:pt>
                <c:pt idx="4">
                  <c:v>0.086</c:v>
                </c:pt>
                <c:pt idx="5">
                  <c:v>0.095</c:v>
                </c:pt>
                <c:pt idx="6">
                  <c:v>0.104</c:v>
                </c:pt>
                <c:pt idx="7">
                  <c:v>0.13</c:v>
                </c:pt>
                <c:pt idx="8">
                  <c:v>0.178</c:v>
                </c:pt>
                <c:pt idx="9">
                  <c:v>0.213</c:v>
                </c:pt>
                <c:pt idx="10">
                  <c:v>0.231</c:v>
                </c:pt>
                <c:pt idx="11">
                  <c:v>0.288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-0.21300723036390865</c:v>
                </c:pt>
                <c:pt idx="1">
                  <c:v>-0.20128755848292376</c:v>
                </c:pt>
                <c:pt idx="2">
                  <c:v>-0.19958678983204686</c:v>
                </c:pt>
                <c:pt idx="3">
                  <c:v>-0.1905921617638108</c:v>
                </c:pt>
                <c:pt idx="4">
                  <c:v>-0.1625309261790041</c:v>
                </c:pt>
                <c:pt idx="5">
                  <c:v>-0.2008766802011036</c:v>
                </c:pt>
                <c:pt idx="6">
                  <c:v>-0.1766745735222423</c:v>
                </c:pt>
                <c:pt idx="7">
                  <c:v>-0.19942912952135186</c:v>
                </c:pt>
                <c:pt idx="8">
                  <c:v>-0.17692576561441734</c:v>
                </c:pt>
                <c:pt idx="9">
                  <c:v>-0.18896431897700472</c:v>
                </c:pt>
                <c:pt idx="10">
                  <c:v>-0.18504265818579957</c:v>
                </c:pt>
                <c:pt idx="11">
                  <c:v>-0.15005329815511567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Regresión</c:v>
                </c:pt>
              </c:strCache>
            </c:strRef>
          </c:tx>
          <c:spPr bwMode="auto">
            <a:prstGeom prst="rect">
              <a:avLst/>
            </a:prstGeom>
            <a:solidFill>
              <a:srgbClr val="FF0000"/>
            </a:solidFill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-0.032</c:v>
                </c:pt>
                <c:pt idx="1">
                  <c:v>0.002</c:v>
                </c:pt>
                <c:pt idx="2">
                  <c:v>0.021</c:v>
                </c:pt>
                <c:pt idx="3">
                  <c:v>0.035</c:v>
                </c:pt>
                <c:pt idx="4">
                  <c:v>0.086</c:v>
                </c:pt>
                <c:pt idx="5">
                  <c:v>0.095</c:v>
                </c:pt>
                <c:pt idx="6">
                  <c:v>0.104</c:v>
                </c:pt>
                <c:pt idx="7">
                  <c:v>0.13</c:v>
                </c:pt>
                <c:pt idx="8">
                  <c:v>0.178</c:v>
                </c:pt>
                <c:pt idx="9">
                  <c:v>0.213</c:v>
                </c:pt>
                <c:pt idx="10">
                  <c:v>0.231</c:v>
                </c:pt>
                <c:pt idx="11">
                  <c:v>0.288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-0.2050192</c:v>
                </c:pt>
                <c:pt idx="1">
                  <c:v>-0.1994738</c:v>
                </c:pt>
                <c:pt idx="2">
                  <c:v>-0.19637490000000002</c:v>
                </c:pt>
                <c:pt idx="3">
                  <c:v>-0.1940915</c:v>
                </c:pt>
                <c:pt idx="4">
                  <c:v>-0.1857734</c:v>
                </c:pt>
                <c:pt idx="5">
                  <c:v>-0.1843055</c:v>
                </c:pt>
                <c:pt idx="6">
                  <c:v>-0.18283760000000002</c:v>
                </c:pt>
                <c:pt idx="7">
                  <c:v>-0.178597</c:v>
                </c:pt>
                <c:pt idx="8">
                  <c:v>-0.1707682</c:v>
                </c:pt>
                <c:pt idx="9">
                  <c:v>-0.1650597</c:v>
                </c:pt>
                <c:pt idx="10">
                  <c:v>-0.1621239</c:v>
                </c:pt>
                <c:pt idx="11">
                  <c:v>-0.1528272</c:v>
                </c:pt>
              </c:numCache>
            </c:numRef>
          </c:yVal>
          <c:smooth val="0"/>
        </c:ser>
        <c:dLbls>
          <c:numFmt formatCode="General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between"/>
      </c:val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 bwMode="auto">
    <a:xfrm rot="0">
      <a:off x="182880" y="1572768"/>
      <a:ext cx="4114800" cy="2468880"/>
    </a:xfrm>
    <a:prstGeom prst="rect">
      <a:avLst/>
    </a:prstGeom>
    <a:solidFill>
      <a:srgbClr val="F2F2F2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embeddings/_rels/Microsoft_Excel_Worksheet4.xlsx.rels><?xml version="1.0" encoding="UTF-8" standalone="yes"?><Relationships xmlns="http://schemas.openxmlformats.org/package/2006/relationships"></Relationships>
</file>

<file path=ppt/embeddings/_rels/Microsoft_Excel_Worksheet5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805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902281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900515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201854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980476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551388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426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1460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44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42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177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7905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829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320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945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740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3428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0359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454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944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852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545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8168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287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40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570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8217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046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3121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013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625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542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80DBAA-A5E2-23A1-C7A3-2194EFC113F6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80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929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7866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266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491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5602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9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54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8134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660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7631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093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0206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744043" name="Shape 0"/>
          <p:cNvSpPr/>
          <p:nvPr/>
        </p:nvSpPr>
        <p:spPr bwMode="auto">
          <a:xfrm>
            <a:off x="0" y="0"/>
            <a:ext cx="9144000" cy="822960"/>
          </a:xfrm>
          <a:prstGeom prst="rect">
            <a:avLst/>
          </a:prstGeom>
          <a:solidFill>
            <a:srgbClr val="001540"/>
          </a:solidFill>
          <a:ln w="12700">
            <a:solidFill>
              <a:srgbClr val="001540"/>
            </a:solidFill>
            <a:prstDash val="solid"/>
          </a:ln>
        </p:spPr>
      </p:sp>
      <p:sp>
        <p:nvSpPr>
          <p:cNvPr id="83648260" name="Text 1"/>
          <p:cNvSpPr/>
          <p:nvPr/>
        </p:nvSpPr>
        <p:spPr bwMode="auto">
          <a:xfrm>
            <a:off x="274320" y="45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800"/>
          </a:p>
          <a:p>
            <a:pPr marL="0" indent="0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800"/>
          </a:p>
          <a:p>
            <a:pPr marL="0" indent="0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800"/>
          </a:p>
        </p:txBody>
      </p:sp>
      <p:sp>
        <p:nvSpPr>
          <p:cNvPr id="1256536689" name="Text 2"/>
          <p:cNvSpPr/>
          <p:nvPr/>
        </p:nvSpPr>
        <p:spPr bwMode="auto">
          <a:xfrm>
            <a:off x="274320" y="4480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00B0F0"/>
                </a:solidFill>
                <a:latin typeface="Arial"/>
                <a:ea typeface="Arial"/>
                <a:cs typeface="Arial"/>
              </a:rPr>
              <a:t>www.ucatolica.edu.co</a:t>
            </a:r>
            <a:endParaRPr lang="en-US" sz="900"/>
          </a:p>
        </p:txBody>
      </p:sp>
      <p:sp>
        <p:nvSpPr>
          <p:cNvPr id="42349628" name="Shape 3"/>
          <p:cNvSpPr/>
          <p:nvPr/>
        </p:nvSpPr>
        <p:spPr bwMode="auto">
          <a:xfrm>
            <a:off x="0" y="82296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79621285" name="Text 4"/>
          <p:cNvSpPr/>
          <p:nvPr/>
        </p:nvSpPr>
        <p:spPr bwMode="auto">
          <a:xfrm>
            <a:off x="914400" y="10058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Diseño de un Sistema Robótico</a:t>
            </a:r>
            <a:endParaRPr lang="en-US" sz="2800"/>
          </a:p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insprado en principios mecánicos</a:t>
            </a:r>
            <a:endParaRPr lang="en-US" sz="2800"/>
          </a:p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 Leonardo da Vinci</a:t>
            </a:r>
            <a:endParaRPr lang="en-US" sz="2800"/>
          </a:p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para la Reforestación</a:t>
            </a:r>
            <a:endParaRPr lang="en-US" sz="2800"/>
          </a:p>
        </p:txBody>
      </p:sp>
      <p:sp>
        <p:nvSpPr>
          <p:cNvPr id="2067399741" name="Text 5"/>
          <p:cNvSpPr/>
          <p:nvPr/>
        </p:nvSpPr>
        <p:spPr bwMode="auto"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00B0F0"/>
                </a:solidFill>
                <a:latin typeface="Arial"/>
                <a:ea typeface="Arial"/>
                <a:cs typeface="Arial"/>
              </a:rPr>
              <a:t>Análisis Estadístico de Variables Inerciales del MPU6050</a:t>
            </a:r>
            <a:endParaRPr lang="en-US" sz="1400"/>
          </a:p>
        </p:txBody>
      </p:sp>
      <p:sp>
        <p:nvSpPr>
          <p:cNvPr id="1647562490" name="Shape 6"/>
          <p:cNvSpPr/>
          <p:nvPr/>
        </p:nvSpPr>
        <p:spPr bwMode="auto">
          <a:xfrm>
            <a:off x="1828800" y="3310127"/>
            <a:ext cx="54864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</p:sp>
      <p:sp>
        <p:nvSpPr>
          <p:cNvPr id="102616105" name="Text 7"/>
          <p:cNvSpPr/>
          <p:nvPr/>
        </p:nvSpPr>
        <p:spPr bwMode="auto">
          <a:xfrm>
            <a:off x="91440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Alejandro Bejarano Parada  ·  67001609</a:t>
            </a:r>
            <a:endParaRPr lang="en-US" sz="1200"/>
          </a:p>
        </p:txBody>
      </p:sp>
      <p:sp>
        <p:nvSpPr>
          <p:cNvPr id="1003575842" name="Text 8"/>
          <p:cNvSpPr/>
          <p:nvPr/>
        </p:nvSpPr>
        <p:spPr bwMode="auto"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2F2F2"/>
                </a:solidFill>
                <a:latin typeface="Arial"/>
                <a:ea typeface="Arial"/>
                <a:cs typeface="Arial"/>
              </a:rPr>
              <a:t>Asignatura: Estadística  ·  Ingeniería de Sistemas  ·  2026-1</a:t>
            </a:r>
            <a:endParaRPr lang="en-US" sz="1000"/>
          </a:p>
        </p:txBody>
      </p:sp>
      <p:sp>
        <p:nvSpPr>
          <p:cNvPr id="192801986" name="Text 9"/>
          <p:cNvSpPr/>
          <p:nvPr/>
        </p:nvSpPr>
        <p:spPr bwMode="auto">
          <a:xfrm>
            <a:off x="91440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C000"/>
                </a:solidFill>
                <a:latin typeface="Arial"/>
                <a:ea typeface="Arial"/>
                <a:cs typeface="Arial"/>
              </a:rPr>
              <a:t>ODS 15 🌱  ·  ODS 9 🏭  ·  dron-agricola-api-3.onrender.com</a:t>
            </a:r>
            <a:endParaRPr lang="en-US" sz="900"/>
          </a:p>
        </p:txBody>
      </p:sp>
      <p:sp>
        <p:nvSpPr>
          <p:cNvPr id="1855518708" name="Shape 10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18099995" name="Text 11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922574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19576617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146053519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312735777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694627284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Introducción y Contexto</a:t>
            </a:r>
            <a:endParaRPr lang="en-US" sz="1800"/>
          </a:p>
        </p:txBody>
      </p:sp>
      <p:sp>
        <p:nvSpPr>
          <p:cNvPr id="2040016040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Motivación, diseño inspirado en Da Vinci y alineación con ODS</a:t>
            </a:r>
            <a:endParaRPr lang="en-US" sz="1200"/>
          </a:p>
        </p:txBody>
      </p:sp>
      <p:sp>
        <p:nvSpPr>
          <p:cNvPr id="1917846259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56879417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83309285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800"/>
          </a:p>
        </p:txBody>
      </p:sp>
      <p:sp>
        <p:nvSpPr>
          <p:cNvPr id="828239124" name="Shape 9"/>
          <p:cNvSpPr/>
          <p:nvPr/>
        </p:nvSpPr>
        <p:spPr bwMode="auto">
          <a:xfrm>
            <a:off x="274320" y="1600200"/>
            <a:ext cx="3931920" cy="960120"/>
          </a:xfrm>
          <a:prstGeom prst="rect">
            <a:avLst/>
          </a:prstGeom>
          <a:solidFill>
            <a:srgbClr val="E8F0F9"/>
          </a:solidFill>
          <a:ln w="12700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941737806" name="Text 10"/>
          <p:cNvSpPr/>
          <p:nvPr/>
        </p:nvSpPr>
        <p:spPr bwMode="auto">
          <a:xfrm>
            <a:off x="32004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🌍  Problemática</a:t>
            </a:r>
            <a:endParaRPr lang="en-US" sz="1000"/>
          </a:p>
        </p:txBody>
      </p:sp>
      <p:sp>
        <p:nvSpPr>
          <p:cNvPr id="1505312646" name="Text 11"/>
          <p:cNvSpPr/>
          <p:nvPr/>
        </p:nvSpPr>
        <p:spPr bwMode="auto">
          <a:xfrm>
            <a:off x="320040" y="19019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La deforestación exige soluciones autónomas para reforestar zonas inaccesibles con mínima intervención humana.</a:t>
            </a:r>
            <a:endParaRPr lang="en-US" sz="900"/>
          </a:p>
        </p:txBody>
      </p:sp>
      <p:sp>
        <p:nvSpPr>
          <p:cNvPr id="1786988931" name="Shape 12"/>
          <p:cNvSpPr/>
          <p:nvPr/>
        </p:nvSpPr>
        <p:spPr bwMode="auto">
          <a:xfrm>
            <a:off x="274320" y="2624328"/>
            <a:ext cx="3931920" cy="9601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000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160117524" name="Text 13"/>
          <p:cNvSpPr/>
          <p:nvPr/>
        </p:nvSpPr>
        <p:spPr bwMode="auto">
          <a:xfrm>
            <a:off x="32004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⚙️  Inspiración: Da Vinci</a:t>
            </a:r>
            <a:endParaRPr lang="en-US" sz="1000"/>
          </a:p>
        </p:txBody>
      </p:sp>
      <p:sp>
        <p:nvSpPr>
          <p:cNvPr id="1597230022" name="Text 14"/>
          <p:cNvSpPr/>
          <p:nvPr/>
        </p:nvSpPr>
        <p:spPr bwMode="auto">
          <a:xfrm>
            <a:off x="320040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Carro Armado (1487): primer concepto de tracción diferencial. Tornillo de Arquímedes: transporte rotacional de material.</a:t>
            </a:r>
            <a:endParaRPr lang="en-US" sz="900"/>
          </a:p>
        </p:txBody>
      </p:sp>
      <p:sp>
        <p:nvSpPr>
          <p:cNvPr id="2007812335" name="Shape 15"/>
          <p:cNvSpPr/>
          <p:nvPr/>
        </p:nvSpPr>
        <p:spPr bwMode="auto">
          <a:xfrm>
            <a:off x="4572000" y="1600200"/>
            <a:ext cx="4114800" cy="960120"/>
          </a:xfrm>
          <a:prstGeom prst="rect">
            <a:avLst/>
          </a:prstGeom>
          <a:solidFill>
            <a:srgbClr val="E8F8E8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597270370" name="Text 16"/>
          <p:cNvSpPr/>
          <p:nvPr/>
        </p:nvSpPr>
        <p:spPr bwMode="auto">
          <a:xfrm>
            <a:off x="4617720" y="1627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🌱  ODS 15 · 🏭  ODS 9</a:t>
            </a:r>
            <a:endParaRPr lang="en-US" sz="1000"/>
          </a:p>
        </p:txBody>
      </p:sp>
      <p:sp>
        <p:nvSpPr>
          <p:cNvPr id="1450403273" name="Text 17"/>
          <p:cNvSpPr/>
          <p:nvPr/>
        </p:nvSpPr>
        <p:spPr bwMode="auto">
          <a:xfrm>
            <a:off x="4617720" y="19019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Vida de ecosistemas terrestres + Industria e Innovación. Sistema robótico como herramienta de conservación tecnológica.</a:t>
            </a:r>
            <a:endParaRPr lang="en-US" sz="900"/>
          </a:p>
        </p:txBody>
      </p:sp>
      <p:sp>
        <p:nvSpPr>
          <p:cNvPr id="1120678771" name="Shape 18"/>
          <p:cNvSpPr/>
          <p:nvPr/>
        </p:nvSpPr>
        <p:spPr bwMode="auto">
          <a:xfrm>
            <a:off x="4572000" y="2624328"/>
            <a:ext cx="4114800" cy="9601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67045932" name="Text 19"/>
          <p:cNvSpPr/>
          <p:nvPr/>
        </p:nvSpPr>
        <p:spPr bwMode="auto">
          <a:xfrm>
            <a:off x="461772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🤖  El Sistema</a:t>
            </a:r>
            <a:endParaRPr lang="en-US" sz="1000"/>
          </a:p>
        </p:txBody>
      </p:sp>
      <p:sp>
        <p:nvSpPr>
          <p:cNvPr id="103028558" name="Text 20"/>
          <p:cNvSpPr/>
          <p:nvPr/>
        </p:nvSpPr>
        <p:spPr bwMode="auto">
          <a:xfrm>
            <a:off x="4617720" y="29260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Robot de oruga + pistola de hidrogel + ESP32 + MPU6050 + App Android + FastAPI + Neon PostgreSQL.</a:t>
            </a:r>
            <a:endParaRPr lang="en-US" sz="900"/>
          </a:p>
        </p:txBody>
      </p:sp>
      <p:sp>
        <p:nvSpPr>
          <p:cNvPr id="1991877325" name="Shape 21"/>
          <p:cNvSpPr/>
          <p:nvPr/>
        </p:nvSpPr>
        <p:spPr bwMode="auto">
          <a:xfrm>
            <a:off x="274320" y="3657600"/>
            <a:ext cx="84124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35618377" name="Text 22"/>
          <p:cNvSpPr/>
          <p:nvPr/>
        </p:nvSpPr>
        <p:spPr bwMode="auto">
          <a:xfrm>
            <a:off x="36576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💧 Las semillas de hidrogel retienen humedad favoreciendo la germinación en suelos degradados de difícil acceso.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40378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09425668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067539770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466972534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497439939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Arquitectura del Sistema</a:t>
            </a:r>
            <a:endParaRPr lang="en-US" sz="1800"/>
          </a:p>
        </p:txBody>
      </p:sp>
      <p:sp>
        <p:nvSpPr>
          <p:cNvPr id="1443745726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5 capas: Hardware → Android → FastAPI → PostgreSQL → Dashboard</a:t>
            </a:r>
            <a:endParaRPr lang="en-US" sz="1200"/>
          </a:p>
        </p:txBody>
      </p:sp>
      <p:sp>
        <p:nvSpPr>
          <p:cNvPr id="1497826838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25383160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1812415684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800"/>
          </a:p>
        </p:txBody>
      </p:sp>
      <p:sp>
        <p:nvSpPr>
          <p:cNvPr id="271399519" name="Shape 9"/>
          <p:cNvSpPr/>
          <p:nvPr/>
        </p:nvSpPr>
        <p:spPr bwMode="auto">
          <a:xfrm>
            <a:off x="274320" y="1600200"/>
            <a:ext cx="685800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216648985" name="Text 10"/>
          <p:cNvSpPr/>
          <p:nvPr/>
        </p:nvSpPr>
        <p:spPr bwMode="auto">
          <a:xfrm>
            <a:off x="320040" y="1636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 1 — Hardware</a:t>
            </a:r>
            <a:endParaRPr lang="en-US" sz="900"/>
          </a:p>
        </p:txBody>
      </p:sp>
      <p:sp>
        <p:nvSpPr>
          <p:cNvPr id="1847486683" name="Text 11"/>
          <p:cNvSpPr/>
          <p:nvPr/>
        </p:nvSpPr>
        <p:spPr bwMode="auto">
          <a:xfrm>
            <a:off x="320040" y="184708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ESP32 ↔ MPU6050 (I²C) · L298N #1 (tracción) · L298N #2 (pistola hidrogel)</a:t>
            </a:r>
            <a:endParaRPr lang="en-US" sz="800"/>
          </a:p>
        </p:txBody>
      </p:sp>
      <p:sp>
        <p:nvSpPr>
          <p:cNvPr id="1315272025" name="Text 12"/>
          <p:cNvSpPr/>
          <p:nvPr/>
        </p:nvSpPr>
        <p:spPr bwMode="auto">
          <a:xfrm>
            <a:off x="1097280" y="2112264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002060"/>
                </a:solidFill>
                <a:latin typeface="Arial"/>
                <a:ea typeface="Arial"/>
                <a:cs typeface="Arial"/>
              </a:rPr>
              <a:t>▼</a:t>
            </a:r>
            <a:endParaRPr lang="en-US" sz="700"/>
          </a:p>
        </p:txBody>
      </p:sp>
      <p:sp>
        <p:nvSpPr>
          <p:cNvPr id="1116615411" name="Shape 13"/>
          <p:cNvSpPr/>
          <p:nvPr/>
        </p:nvSpPr>
        <p:spPr bwMode="auto">
          <a:xfrm>
            <a:off x="274320" y="2176272"/>
            <a:ext cx="6858000" cy="50292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901795997" name="Text 14"/>
          <p:cNvSpPr/>
          <p:nvPr/>
        </p:nvSpPr>
        <p:spPr bwMode="auto">
          <a:xfrm>
            <a:off x="320040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 2 — Android Kotlin</a:t>
            </a:r>
            <a:endParaRPr lang="en-US" sz="900"/>
          </a:p>
        </p:txBody>
      </p:sp>
      <p:sp>
        <p:nvSpPr>
          <p:cNvPr id="865823612" name="Text 15"/>
          <p:cNvSpPr/>
          <p:nvPr/>
        </p:nvSpPr>
        <p:spPr bwMode="auto">
          <a:xfrm>
            <a:off x="320040" y="2423160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BluetoothService · Coroutines · Buffer acumulativo · HTTP POST asíncrono</a:t>
            </a:r>
            <a:endParaRPr lang="en-US" sz="800"/>
          </a:p>
        </p:txBody>
      </p:sp>
      <p:sp>
        <p:nvSpPr>
          <p:cNvPr id="1954192961" name="Text 16"/>
          <p:cNvSpPr/>
          <p:nvPr/>
        </p:nvSpPr>
        <p:spPr bwMode="auto">
          <a:xfrm>
            <a:off x="1097280" y="2688336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002060"/>
                </a:solidFill>
                <a:latin typeface="Arial"/>
                <a:ea typeface="Arial"/>
                <a:cs typeface="Arial"/>
              </a:rPr>
              <a:t>▼</a:t>
            </a:r>
            <a:endParaRPr lang="en-US" sz="700"/>
          </a:p>
        </p:txBody>
      </p:sp>
      <p:sp>
        <p:nvSpPr>
          <p:cNvPr id="2091457962" name="Shape 17"/>
          <p:cNvSpPr/>
          <p:nvPr/>
        </p:nvSpPr>
        <p:spPr bwMode="auto">
          <a:xfrm>
            <a:off x="274320" y="2752343"/>
            <a:ext cx="68580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125167154" name="Text 18"/>
          <p:cNvSpPr/>
          <p:nvPr/>
        </p:nvSpPr>
        <p:spPr bwMode="auto">
          <a:xfrm>
            <a:off x="320040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 3 — FastAPI Backend</a:t>
            </a:r>
            <a:endParaRPr lang="en-US" sz="900"/>
          </a:p>
        </p:txBody>
      </p:sp>
      <p:sp>
        <p:nvSpPr>
          <p:cNvPr id="696727172" name="Text 19"/>
          <p:cNvSpPr/>
          <p:nvPr/>
        </p:nvSpPr>
        <p:spPr bwMode="auto">
          <a:xfrm>
            <a:off x="320040" y="2999232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 Cloud · /api/sensor-data · /api/export-excel · Swagger /docs</a:t>
            </a:r>
            <a:endParaRPr lang="en-US" sz="800"/>
          </a:p>
        </p:txBody>
      </p:sp>
      <p:sp>
        <p:nvSpPr>
          <p:cNvPr id="2023101657" name="Text 20"/>
          <p:cNvSpPr/>
          <p:nvPr/>
        </p:nvSpPr>
        <p:spPr bwMode="auto">
          <a:xfrm>
            <a:off x="1097280" y="3264408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002060"/>
                </a:solidFill>
                <a:latin typeface="Arial"/>
                <a:ea typeface="Arial"/>
                <a:cs typeface="Arial"/>
              </a:rPr>
              <a:t>▼</a:t>
            </a:r>
            <a:endParaRPr lang="en-US" sz="700"/>
          </a:p>
        </p:txBody>
      </p:sp>
      <p:sp>
        <p:nvSpPr>
          <p:cNvPr id="335284206" name="Shape 21"/>
          <p:cNvSpPr/>
          <p:nvPr/>
        </p:nvSpPr>
        <p:spPr bwMode="auto">
          <a:xfrm>
            <a:off x="274320" y="3328416"/>
            <a:ext cx="6858000" cy="502920"/>
          </a:xfrm>
          <a:prstGeom prst="rect">
            <a:avLst/>
          </a:prstGeom>
          <a:solidFill>
            <a:srgbClr val="0098DB"/>
          </a:solidFill>
          <a:ln w="12700">
            <a:solidFill>
              <a:srgbClr val="0098DB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057757754" name="Text 22"/>
          <p:cNvSpPr/>
          <p:nvPr/>
        </p:nvSpPr>
        <p:spPr bwMode="auto">
          <a:xfrm>
            <a:off x="320040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 4 — Neon PostgreSQL</a:t>
            </a:r>
            <a:endParaRPr lang="en-US" sz="900"/>
          </a:p>
        </p:txBody>
      </p:sp>
      <p:sp>
        <p:nvSpPr>
          <p:cNvPr id="1716303391" name="Text 23"/>
          <p:cNvSpPr/>
          <p:nvPr/>
        </p:nvSpPr>
        <p:spPr bwMode="auto">
          <a:xfrm>
            <a:off x="320040" y="3575303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Persistencia cloud · 31+ registros · Acceso público 24/7</a:t>
            </a:r>
            <a:endParaRPr lang="en-US" sz="800"/>
          </a:p>
        </p:txBody>
      </p:sp>
      <p:sp>
        <p:nvSpPr>
          <p:cNvPr id="404264462" name="Text 24"/>
          <p:cNvSpPr/>
          <p:nvPr/>
        </p:nvSpPr>
        <p:spPr bwMode="auto">
          <a:xfrm>
            <a:off x="1097280" y="3840480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002060"/>
                </a:solidFill>
                <a:latin typeface="Arial"/>
                <a:ea typeface="Arial"/>
                <a:cs typeface="Arial"/>
              </a:rPr>
              <a:t>▼</a:t>
            </a:r>
            <a:endParaRPr lang="en-US" sz="700"/>
          </a:p>
        </p:txBody>
      </p:sp>
      <p:sp>
        <p:nvSpPr>
          <p:cNvPr id="1911709641" name="Shape 25"/>
          <p:cNvSpPr/>
          <p:nvPr/>
        </p:nvSpPr>
        <p:spPr bwMode="auto">
          <a:xfrm>
            <a:off x="274320" y="3904488"/>
            <a:ext cx="685800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617136849" name="Text 26"/>
          <p:cNvSpPr/>
          <p:nvPr/>
        </p:nvSpPr>
        <p:spPr bwMode="auto">
          <a:xfrm>
            <a:off x="320040" y="3941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 5 — Dashboard + Excel</a:t>
            </a:r>
            <a:endParaRPr lang="en-US" sz="900"/>
          </a:p>
        </p:txBody>
      </p:sp>
      <p:sp>
        <p:nvSpPr>
          <p:cNvPr id="237695276" name="Text 27"/>
          <p:cNvSpPr/>
          <p:nvPr/>
        </p:nvSpPr>
        <p:spPr bwMode="auto">
          <a:xfrm>
            <a:off x="320040" y="4151376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con charts (radar, histograma, dispersión) · Excel con estadística completa</a:t>
            </a:r>
            <a:endParaRPr lang="en-US" sz="800"/>
          </a:p>
        </p:txBody>
      </p:sp>
      <p:sp>
        <p:nvSpPr>
          <p:cNvPr id="341759108" name="Shape 28"/>
          <p:cNvSpPr/>
          <p:nvPr/>
        </p:nvSpPr>
        <p:spPr bwMode="auto">
          <a:xfrm>
            <a:off x="7315200" y="1600200"/>
            <a:ext cx="160020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53940355" name="Text 29"/>
          <p:cNvSpPr/>
          <p:nvPr/>
        </p:nvSpPr>
        <p:spPr bwMode="auto">
          <a:xfrm>
            <a:off x="7360920" y="1645920"/>
            <a:ext cx="15087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📡 Comunicaciones</a:t>
            </a:r>
            <a:endParaRPr lang="en-US" sz="800"/>
          </a:p>
        </p:txBody>
      </p:sp>
      <p:sp>
        <p:nvSpPr>
          <p:cNvPr id="1001714026" name="Text 30"/>
          <p:cNvSpPr/>
          <p:nvPr/>
        </p:nvSpPr>
        <p:spPr bwMode="auto">
          <a:xfrm>
            <a:off x="7360920" y="1938528"/>
            <a:ext cx="150875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BT SPP</a:t>
            </a:r>
            <a:br>
              <a:rPr lang="en-US"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  <a:t>Comandos A/B/C/D/E</a:t>
            </a:r>
            <a:b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  <a:t>R_ON · R_OFF</a:t>
            </a:r>
            <a:b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  <a:t>DATA:ax,ay,az,gx,gy,gz\n</a:t>
            </a:r>
            <a:b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b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lang="en-US"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HTTPS</a:t>
            </a:r>
            <a:br>
              <a:rPr lang="en-US" sz="750" b="1">
                <a:solidFill>
                  <a:srgbClr val="1A1A1A"/>
                </a:solidFill>
                <a:latin typeface="Arial"/>
                <a:ea typeface="Arial"/>
                <a:cs typeface="Arial"/>
              </a:rPr>
            </a:br>
            <a: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  <a:t>POST /api/sensor-data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  <a:t>GET /api/export-excel</a:t>
            </a:r>
            <a:endParaRPr lang="en-US" sz="750"/>
          </a:p>
          <a:p>
            <a:pPr marL="0" indent="0">
              <a:buNone/>
              <a:defRPr/>
            </a:pPr>
            <a:r>
              <a:rPr lang="en-US" sz="750">
                <a:solidFill>
                  <a:srgbClr val="1A1A1A"/>
                </a:solidFill>
                <a:latin typeface="Arial"/>
                <a:ea typeface="Arial"/>
                <a:cs typeface="Arial"/>
              </a:rPr>
              <a:t>Dashboard web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100732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6070497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681070197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377834042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51216963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Hardware del Prototipo</a:t>
            </a:r>
            <a:endParaRPr lang="en-US" sz="1800"/>
          </a:p>
        </p:txBody>
      </p:sp>
      <p:sp>
        <p:nvSpPr>
          <p:cNvPr id="681515722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Chasis de oruga · Pistola de hidrogel · ESP32 · MPU6050 · L298N×2</a:t>
            </a:r>
            <a:endParaRPr lang="en-US" sz="1200"/>
          </a:p>
        </p:txBody>
      </p:sp>
      <p:sp>
        <p:nvSpPr>
          <p:cNvPr id="412544753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223271976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1153895963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800"/>
          </a:p>
        </p:txBody>
      </p:sp>
      <p:sp>
        <p:nvSpPr>
          <p:cNvPr id="754199779" name="Shape 9"/>
          <p:cNvSpPr/>
          <p:nvPr/>
        </p:nvSpPr>
        <p:spPr bwMode="auto">
          <a:xfrm>
            <a:off x="274320" y="1600200"/>
            <a:ext cx="192024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25517228" name="Shape 10"/>
          <p:cNvSpPr/>
          <p:nvPr/>
        </p:nvSpPr>
        <p:spPr bwMode="auto">
          <a:xfrm>
            <a:off x="274320" y="1600200"/>
            <a:ext cx="1920240" cy="34747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899210264" name="Text 11"/>
          <p:cNvSpPr/>
          <p:nvPr/>
        </p:nvSpPr>
        <p:spPr bwMode="auto">
          <a:xfrm>
            <a:off x="320040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ESP32</a:t>
            </a:r>
            <a:endParaRPr lang="en-US" sz="1200"/>
          </a:p>
        </p:txBody>
      </p:sp>
      <p:sp>
        <p:nvSpPr>
          <p:cNvPr id="1692239926" name="Text 12"/>
          <p:cNvSpPr/>
          <p:nvPr/>
        </p:nvSpPr>
        <p:spPr bwMode="auto">
          <a:xfrm>
            <a:off x="347472" y="1984248"/>
            <a:ext cx="1783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Microcontrolador central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Bluetooth SPP + I²C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Expansion board</a:t>
            </a:r>
            <a:endParaRPr lang="en-US" sz="900"/>
          </a:p>
        </p:txBody>
      </p:sp>
      <p:sp>
        <p:nvSpPr>
          <p:cNvPr id="548713468" name="Shape 13"/>
          <p:cNvSpPr/>
          <p:nvPr/>
        </p:nvSpPr>
        <p:spPr bwMode="auto">
          <a:xfrm>
            <a:off x="2423160" y="1600200"/>
            <a:ext cx="192024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647108566" name="Shape 14"/>
          <p:cNvSpPr/>
          <p:nvPr/>
        </p:nvSpPr>
        <p:spPr bwMode="auto">
          <a:xfrm>
            <a:off x="2423160" y="1600200"/>
            <a:ext cx="1920240" cy="34747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279830403" name="Text 15"/>
          <p:cNvSpPr/>
          <p:nvPr/>
        </p:nvSpPr>
        <p:spPr bwMode="auto">
          <a:xfrm>
            <a:off x="2468880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MPU6050</a:t>
            </a:r>
            <a:endParaRPr lang="en-US" sz="1200"/>
          </a:p>
        </p:txBody>
      </p:sp>
      <p:sp>
        <p:nvSpPr>
          <p:cNvPr id="1091251027" name="Text 16"/>
          <p:cNvSpPr/>
          <p:nvPr/>
        </p:nvSpPr>
        <p:spPr bwMode="auto">
          <a:xfrm>
            <a:off x="2496312" y="1984248"/>
            <a:ext cx="1783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Acelerómetro ±2g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Giroscopio ±250°/s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Interfaz I²C (21/22)</a:t>
            </a:r>
            <a:endParaRPr lang="en-US" sz="900"/>
          </a:p>
        </p:txBody>
      </p:sp>
      <p:sp>
        <p:nvSpPr>
          <p:cNvPr id="336343965" name="Shape 17"/>
          <p:cNvSpPr/>
          <p:nvPr/>
        </p:nvSpPr>
        <p:spPr bwMode="auto">
          <a:xfrm>
            <a:off x="4572000" y="1600200"/>
            <a:ext cx="192024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564826586" name="Shape 18"/>
          <p:cNvSpPr/>
          <p:nvPr/>
        </p:nvSpPr>
        <p:spPr bwMode="auto">
          <a:xfrm>
            <a:off x="4572000" y="1600200"/>
            <a:ext cx="1920240" cy="34747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417559085" name="Text 19"/>
          <p:cNvSpPr/>
          <p:nvPr/>
        </p:nvSpPr>
        <p:spPr bwMode="auto">
          <a:xfrm>
            <a:off x="4617720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L298N #1</a:t>
            </a:r>
            <a:endParaRPr lang="en-US" sz="1200"/>
          </a:p>
        </p:txBody>
      </p:sp>
      <p:sp>
        <p:nvSpPr>
          <p:cNvPr id="971906144" name="Text 20"/>
          <p:cNvSpPr/>
          <p:nvPr/>
        </p:nvSpPr>
        <p:spPr bwMode="auto">
          <a:xfrm>
            <a:off x="4645152" y="1984248"/>
            <a:ext cx="1783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Doble puente H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Tracción diferencial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GPIO 14,27,26,25,33,32</a:t>
            </a:r>
            <a:endParaRPr lang="en-US" sz="900"/>
          </a:p>
        </p:txBody>
      </p:sp>
      <p:sp>
        <p:nvSpPr>
          <p:cNvPr id="1263168734" name="Shape 21"/>
          <p:cNvSpPr/>
          <p:nvPr/>
        </p:nvSpPr>
        <p:spPr bwMode="auto">
          <a:xfrm>
            <a:off x="6720840" y="1600200"/>
            <a:ext cx="1920240" cy="1371600"/>
          </a:xfrm>
          <a:prstGeom prst="rect">
            <a:avLst/>
          </a:prstGeom>
          <a:solidFill>
            <a:srgbClr val="FCE4EC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948631757" name="Shape 22"/>
          <p:cNvSpPr/>
          <p:nvPr/>
        </p:nvSpPr>
        <p:spPr bwMode="auto">
          <a:xfrm>
            <a:off x="6720840" y="1600200"/>
            <a:ext cx="1920240" cy="34747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791117980" name="Text 23"/>
          <p:cNvSpPr/>
          <p:nvPr/>
        </p:nvSpPr>
        <p:spPr bwMode="auto">
          <a:xfrm>
            <a:off x="6766560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L298N #2</a:t>
            </a:r>
            <a:endParaRPr lang="en-US" sz="1200"/>
          </a:p>
        </p:txBody>
      </p:sp>
      <p:sp>
        <p:nvSpPr>
          <p:cNvPr id="471123049" name="Text 24"/>
          <p:cNvSpPr/>
          <p:nvPr/>
        </p:nvSpPr>
        <p:spPr bwMode="auto">
          <a:xfrm>
            <a:off x="6793992" y="1984248"/>
            <a:ext cx="17830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Doble puente H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Control pistola hidrogel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</a:rPr>
              <a:t>GPIO 5,17,16</a:t>
            </a:r>
            <a:endParaRPr lang="en-US" sz="900"/>
          </a:p>
        </p:txBody>
      </p:sp>
      <p:sp>
        <p:nvSpPr>
          <p:cNvPr id="1422919974" name="Text 25"/>
          <p:cNvSpPr/>
          <p:nvPr/>
        </p:nvSpPr>
        <p:spPr bwMode="auto">
          <a:xfrm>
            <a:off x="274320" y="3063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Tabla I — Asignación de pines del ESP32</a:t>
            </a:r>
            <a:endParaRPr lang="en-US" sz="1000"/>
          </a:p>
        </p:txBody>
      </p:sp>
      <p:graphicFrame>
        <p:nvGraphicFramePr>
          <p:cNvPr id="162108262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3337560"/>
          <a:ext cx="8595360" cy="12344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731520"/>
                <a:gridCol w="1097280"/>
                <a:gridCol w="1463040"/>
                <a:gridCol w="731520"/>
                <a:gridCol w="1097280"/>
                <a:gridCol w="1463040"/>
              </a:tblGrid>
              <a:tr h="2468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GPIO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GPIO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55A5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L298N #1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ENA tracción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L298N #2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EN pistola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</a:tr>
              <a:tr h="2468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27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L298N #1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IN1 Motor A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L298N #2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IN1 pistola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</a:tr>
              <a:tr h="2468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25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L298N #1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ENB tracción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MPU6050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SDA I²C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</a:tr>
              <a:tr h="2468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32/33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L298N #1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IN3/IN4 Motor B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22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MPU6050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1A1A1A"/>
                          </a:solidFill>
                        </a:rPr>
                        <a:t>SCL I²C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68057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97872187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631178524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404960578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81418580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Datos Experimentales</a:t>
            </a:r>
            <a:endParaRPr lang="en-US" sz="1800"/>
          </a:p>
        </p:txBody>
      </p:sp>
      <p:sp>
        <p:nvSpPr>
          <p:cNvPr id="892868888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n=31 registros reales · MPU6050 · Disparos del 1 de mayo de 2026</a:t>
            </a:r>
            <a:endParaRPr lang="en-US" sz="1200"/>
          </a:p>
        </p:txBody>
      </p:sp>
      <p:sp>
        <p:nvSpPr>
          <p:cNvPr id="1385026530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586405309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549312899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800"/>
          </a:p>
        </p:txBody>
      </p:sp>
      <p:sp>
        <p:nvSpPr>
          <p:cNvPr id="1029097474" name="Text 9"/>
          <p:cNvSpPr/>
          <p:nvPr/>
        </p:nvSpPr>
        <p:spPr bwMode="auto">
          <a:xfrm>
            <a:off x="274320" y="1600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Muestra de datos reales del MPU6050</a:t>
            </a:r>
            <a:endParaRPr lang="en-US" sz="1000"/>
          </a:p>
        </p:txBody>
      </p:sp>
      <p:graphicFrame>
        <p:nvGraphicFramePr>
          <p:cNvPr id="5275797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1874520"/>
          <a:ext cx="8595360" cy="13716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22960"/>
                <a:gridCol w="1188720"/>
                <a:gridCol w="1188720"/>
                <a:gridCol w="1188720"/>
                <a:gridCol w="1280160"/>
                <a:gridCol w="1280160"/>
                <a:gridCol w="1280160"/>
              </a:tblGrid>
              <a:tr h="2286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Disparo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Accel X (g)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Accel Y (g)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Accel Z (g)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Gyro X (°/s)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Gyro Y (°/s)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Gyro Z (°/s)</a:t>
                      </a:r>
                      <a:endParaRPr lang="en-US" sz="8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0.2878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0.0728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1.0142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-8.80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2.15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6.57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0.2126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0.1294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1.0039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-11.76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2.52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14.36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0.0022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0.0281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1.0554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-10.29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0.55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1.49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-0.0322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0.0176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1.0273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-2.87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0.46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1.38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0.0352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0.0852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1.0511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-11.77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4.45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50">
                          <a:solidFill>
                            <a:srgbClr val="1A1A1A"/>
                          </a:solidFill>
                        </a:rPr>
                        <a:t>1.50</a:t>
                      </a:r>
                      <a:endParaRPr lang="en-US" sz="8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1040811001" name="Shape 10"/>
          <p:cNvSpPr/>
          <p:nvPr/>
        </p:nvSpPr>
        <p:spPr bwMode="auto">
          <a:xfrm>
            <a:off x="274320" y="3401568"/>
            <a:ext cx="1554480" cy="1051560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06165978" name="Text 11"/>
          <p:cNvSpPr/>
          <p:nvPr/>
        </p:nvSpPr>
        <p:spPr bwMode="auto">
          <a:xfrm>
            <a:off x="32004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registros</a:t>
            </a:r>
            <a:endParaRPr lang="en-US" sz="750"/>
          </a:p>
        </p:txBody>
      </p:sp>
      <p:sp>
        <p:nvSpPr>
          <p:cNvPr id="1978101090" name="Text 12"/>
          <p:cNvSpPr/>
          <p:nvPr/>
        </p:nvSpPr>
        <p:spPr bwMode="auto">
          <a:xfrm>
            <a:off x="32004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n = 31</a:t>
            </a:r>
            <a:endParaRPr lang="en-US" sz="1600"/>
          </a:p>
        </p:txBody>
      </p:sp>
      <p:sp>
        <p:nvSpPr>
          <p:cNvPr id="343942134" name="Text 13"/>
          <p:cNvSpPr/>
          <p:nvPr/>
        </p:nvSpPr>
        <p:spPr bwMode="auto">
          <a:xfrm>
            <a:off x="32004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disparos válidos</a:t>
            </a:r>
            <a:endParaRPr lang="en-US" sz="700"/>
          </a:p>
        </p:txBody>
      </p:sp>
      <p:sp>
        <p:nvSpPr>
          <p:cNvPr id="1665443467" name="Shape 14"/>
          <p:cNvSpPr/>
          <p:nvPr/>
        </p:nvSpPr>
        <p:spPr bwMode="auto">
          <a:xfrm>
            <a:off x="2011680" y="3401568"/>
            <a:ext cx="155448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819866458" name="Text 15"/>
          <p:cNvSpPr/>
          <p:nvPr/>
        </p:nvSpPr>
        <p:spPr bwMode="auto">
          <a:xfrm>
            <a:off x="205740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Accel Z media</a:t>
            </a:r>
            <a:endParaRPr lang="en-US" sz="750"/>
          </a:p>
        </p:txBody>
      </p:sp>
      <p:sp>
        <p:nvSpPr>
          <p:cNvPr id="1128102747" name="Text 16"/>
          <p:cNvSpPr/>
          <p:nvPr/>
        </p:nvSpPr>
        <p:spPr bwMode="auto">
          <a:xfrm>
            <a:off x="205740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1.034 g</a:t>
            </a:r>
            <a:endParaRPr lang="en-US" sz="1600"/>
          </a:p>
        </p:txBody>
      </p:sp>
      <p:sp>
        <p:nvSpPr>
          <p:cNvPr id="143294154" name="Text 17"/>
          <p:cNvSpPr/>
          <p:nvPr/>
        </p:nvSpPr>
        <p:spPr bwMode="auto">
          <a:xfrm>
            <a:off x="205740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≈ 1g (horizontal ✓)</a:t>
            </a:r>
            <a:endParaRPr lang="en-US" sz="700"/>
          </a:p>
        </p:txBody>
      </p:sp>
      <p:sp>
        <p:nvSpPr>
          <p:cNvPr id="2055238946" name="Shape 18"/>
          <p:cNvSpPr/>
          <p:nvPr/>
        </p:nvSpPr>
        <p:spPr bwMode="auto">
          <a:xfrm>
            <a:off x="3749040" y="3401568"/>
            <a:ext cx="1554480" cy="10515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670667771" name="Text 19"/>
          <p:cNvSpPr/>
          <p:nvPr/>
        </p:nvSpPr>
        <p:spPr bwMode="auto">
          <a:xfrm>
            <a:off x="379476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Gyro X desv.est.</a:t>
            </a:r>
            <a:endParaRPr lang="en-US" sz="750"/>
          </a:p>
        </p:txBody>
      </p:sp>
      <p:sp>
        <p:nvSpPr>
          <p:cNvPr id="1141941346" name="Text 20"/>
          <p:cNvSpPr/>
          <p:nvPr/>
        </p:nvSpPr>
        <p:spPr bwMode="auto">
          <a:xfrm>
            <a:off x="379476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11.76 °/s</a:t>
            </a:r>
            <a:endParaRPr lang="en-US" sz="1600"/>
          </a:p>
        </p:txBody>
      </p:sp>
      <p:sp>
        <p:nvSpPr>
          <p:cNvPr id="1481598836" name="Text 21"/>
          <p:cNvSpPr/>
          <p:nvPr/>
        </p:nvSpPr>
        <p:spPr bwMode="auto">
          <a:xfrm>
            <a:off x="379476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alta variabilidad</a:t>
            </a:r>
            <a:endParaRPr lang="en-US" sz="700"/>
          </a:p>
        </p:txBody>
      </p:sp>
      <p:sp>
        <p:nvSpPr>
          <p:cNvPr id="1724326718" name="Shape 22"/>
          <p:cNvSpPr/>
          <p:nvPr/>
        </p:nvSpPr>
        <p:spPr bwMode="auto">
          <a:xfrm>
            <a:off x="5486400" y="3401568"/>
            <a:ext cx="1554480" cy="10515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345773923" name="Text 23"/>
          <p:cNvSpPr/>
          <p:nvPr/>
        </p:nvSpPr>
        <p:spPr bwMode="auto">
          <a:xfrm>
            <a:off x="553212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Disparos estables</a:t>
            </a:r>
            <a:endParaRPr lang="en-US" sz="750"/>
          </a:p>
        </p:txBody>
      </p:sp>
      <p:sp>
        <p:nvSpPr>
          <p:cNvPr id="1136190088" name="Text 24"/>
          <p:cNvSpPr/>
          <p:nvPr/>
        </p:nvSpPr>
        <p:spPr bwMode="auto">
          <a:xfrm>
            <a:off x="553212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93.5%</a:t>
            </a:r>
            <a:endParaRPr lang="en-US" sz="1600"/>
          </a:p>
        </p:txBody>
      </p:sp>
      <p:sp>
        <p:nvSpPr>
          <p:cNvPr id="1004883220" name="Text 25"/>
          <p:cNvSpPr/>
          <p:nvPr/>
        </p:nvSpPr>
        <p:spPr bwMode="auto">
          <a:xfrm>
            <a:off x="553212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Gyro Z &lt; 10 °/s</a:t>
            </a:r>
            <a:endParaRPr lang="en-US" sz="700"/>
          </a:p>
        </p:txBody>
      </p:sp>
      <p:sp>
        <p:nvSpPr>
          <p:cNvPr id="1217033828" name="Shape 26"/>
          <p:cNvSpPr/>
          <p:nvPr/>
        </p:nvSpPr>
        <p:spPr bwMode="auto">
          <a:xfrm>
            <a:off x="7223760" y="3401568"/>
            <a:ext cx="1554480" cy="10515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883839922" name="Text 27"/>
          <p:cNvSpPr/>
          <p:nvPr/>
        </p:nvSpPr>
        <p:spPr bwMode="auto">
          <a:xfrm>
            <a:off x="726948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pública</a:t>
            </a:r>
            <a:endParaRPr lang="en-US" sz="750"/>
          </a:p>
        </p:txBody>
      </p:sp>
      <p:sp>
        <p:nvSpPr>
          <p:cNvPr id="713679236" name="Text 28"/>
          <p:cNvSpPr/>
          <p:nvPr/>
        </p:nvSpPr>
        <p:spPr bwMode="auto">
          <a:xfrm>
            <a:off x="726948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Neon PG</a:t>
            </a:r>
            <a:endParaRPr lang="en-US" sz="1600"/>
          </a:p>
        </p:txBody>
      </p:sp>
      <p:sp>
        <p:nvSpPr>
          <p:cNvPr id="1285908015" name="Text 29"/>
          <p:cNvSpPr/>
          <p:nvPr/>
        </p:nvSpPr>
        <p:spPr bwMode="auto">
          <a:xfrm>
            <a:off x="726948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dron-agricola-api-3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177821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33350568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2045931296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303357440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352898444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Estadística Descriptiva — n = 31 registros</a:t>
            </a:r>
            <a:endParaRPr lang="en-US" sz="1800"/>
          </a:p>
        </p:txBody>
      </p:sp>
      <p:sp>
        <p:nvSpPr>
          <p:cNvPr id="1210950582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Media · Varianza · Desv.Est. · Cuartiles · IQR · CV (%)</a:t>
            </a:r>
            <a:endParaRPr lang="en-US" sz="1200"/>
          </a:p>
        </p:txBody>
      </p:sp>
      <p:sp>
        <p:nvSpPr>
          <p:cNvPr id="1743148790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527217370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1106928073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lang="en-US" sz="800"/>
          </a:p>
        </p:txBody>
      </p:sp>
      <p:sp>
        <p:nvSpPr>
          <p:cNvPr id="1845545911" name="Text 9"/>
          <p:cNvSpPr/>
          <p:nvPr/>
        </p:nvSpPr>
        <p:spPr bwMode="auto">
          <a:xfrm>
            <a:off x="274320" y="15727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Tabla III — Estadística descriptiva completa (n=31 registros válidos):</a:t>
            </a:r>
            <a:endParaRPr lang="en-US" sz="950"/>
          </a:p>
        </p:txBody>
      </p:sp>
      <p:graphicFrame>
        <p:nvGraphicFramePr>
          <p:cNvPr id="300226477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82880" y="1810512"/>
          <a:ext cx="8778240" cy="2103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731520"/>
                <a:gridCol w="457200"/>
                <a:gridCol w="594360"/>
                <a:gridCol w="594360"/>
                <a:gridCol w="640080"/>
                <a:gridCol w="594360"/>
                <a:gridCol w="594360"/>
                <a:gridCol w="640080"/>
                <a:gridCol w="594360"/>
                <a:gridCol w="594360"/>
                <a:gridCol w="502920"/>
                <a:gridCol w="640080"/>
                <a:gridCol w="457200"/>
              </a:tblGrid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Unidad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Media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Varianza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Desv.Est.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Mín.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Mediana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Máx.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IQR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CV (%)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</a:rPr>
                        <a:t>Estab.</a:t>
                      </a:r>
                      <a:endParaRPr lang="en-US" sz="70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A1A1A"/>
                          </a:solidFill>
                        </a:rPr>
                        <a:t>Accel X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g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0.039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0.005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0.070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-0.032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0.002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0.023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0.036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0.288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0.034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178.9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8B6914"/>
                          </a:solidFill>
                        </a:rPr>
                        <a:t>▲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8E1"/>
                    </a:solidFill>
                  </a:tcPr>
                </a:tc>
              </a:tr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A1A1A"/>
                          </a:solidFill>
                        </a:rPr>
                        <a:t>Accel Y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g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0.057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0.017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0.128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-0.155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0.018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0.032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0.085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0.422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0.068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224.5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8B6914"/>
                          </a:solidFill>
                        </a:rPr>
                        <a:t>▲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8E1"/>
                    </a:solidFill>
                  </a:tcPr>
                </a:tc>
              </a:tr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A1A1A"/>
                          </a:solidFill>
                        </a:rPr>
                        <a:t>Accel Z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g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1.034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0.033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0.927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1.027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1.044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1.051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1.075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0.024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3.2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B5E20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5E9"/>
                    </a:solidFill>
                  </a:tcPr>
                </a:tc>
              </a:tr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A1A1A"/>
                          </a:solidFill>
                        </a:rPr>
                        <a:t>Gyro X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°/s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-9.37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138.3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11.76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-50.9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-11.8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-9.69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-2.87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7.80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8.90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125.5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8B6914"/>
                          </a:solidFill>
                        </a:rPr>
                        <a:t>▲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8E1"/>
                    </a:solidFill>
                  </a:tcPr>
                </a:tc>
              </a:tr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A1A1A"/>
                          </a:solidFill>
                        </a:rPr>
                        <a:t>Gyro Y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°/s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0.850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4.684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2.164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-5.90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0.462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1.076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2.015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6.298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1.554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254.5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8B6914"/>
                          </a:solidFill>
                        </a:rPr>
                        <a:t>▲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8E1"/>
                    </a:solidFill>
                  </a:tcPr>
                </a:tc>
              </a:tr>
              <a:tr h="30044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1A1A1A"/>
                          </a:solidFill>
                        </a:rPr>
                        <a:t>Gyro Z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E8F0F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°/s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4.995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241.8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15.55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-3.22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1.382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1.504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2.389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87.33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1.008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>
                          <a:solidFill>
                            <a:srgbClr val="1A1A1A"/>
                          </a:solidFill>
                        </a:rPr>
                        <a:t>311.3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750" b="1">
                          <a:solidFill>
                            <a:srgbClr val="B71C1C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 marL="91440" marR="91440" marT="45720" marB="45720">
                    <a:lnL w="6350" algn="ctr">
                      <a:solidFill>
                        <a:srgbClr val="BBBBBB"/>
                      </a:solidFill>
                    </a:lnL>
                    <a:lnR w="6350" algn="ctr">
                      <a:solidFill>
                        <a:srgbClr val="BBBBBB"/>
                      </a:solidFill>
                    </a:lnR>
                    <a:lnT w="6350" algn="ctr">
                      <a:solidFill>
                        <a:srgbClr val="BBBBBB"/>
                      </a:solidFill>
                    </a:lnT>
                    <a:lnB w="6350" algn="ctr">
                      <a:solidFill>
                        <a:srgbClr val="BBBBBB"/>
                      </a:solidFill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1382786601" name="Shape 10"/>
          <p:cNvSpPr/>
          <p:nvPr/>
        </p:nvSpPr>
        <p:spPr bwMode="auto">
          <a:xfrm>
            <a:off x="182880" y="3977640"/>
            <a:ext cx="877824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66991260" name="Text 11"/>
          <p:cNvSpPr/>
          <p:nvPr/>
        </p:nvSpPr>
        <p:spPr bwMode="auto">
          <a:xfrm>
            <a:off x="320040" y="4005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Hallazgos clave:</a:t>
            </a:r>
            <a:endParaRPr lang="en-US" sz="850"/>
          </a:p>
        </p:txBody>
      </p:sp>
      <p:sp>
        <p:nvSpPr>
          <p:cNvPr id="278629923" name="Text 12"/>
          <p:cNvSpPr/>
          <p:nvPr/>
        </p:nvSpPr>
        <p:spPr bwMode="auto">
          <a:xfrm>
            <a:off x="320040" y="42336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B5E20"/>
                </a:solidFill>
                <a:latin typeface="Arial"/>
                <a:ea typeface="Arial"/>
                <a:cs typeface="Arial"/>
              </a:rPr>
              <a:t>Accel Z (CV=3.2%) </a:t>
            </a: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confirma horizontalidad sostenida  ·  </a:t>
            </a:r>
            <a:r>
              <a:rPr lang="en-US" sz="8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Gyro Z (CV=311%) </a:t>
            </a: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→ rotaciones yaw irregulares  ·  </a:t>
            </a:r>
            <a:r>
              <a:rPr lang="en-US" sz="8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Gyro X (σ=11.76°/s) </a:t>
            </a: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→ dinámica diferencial real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585122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7906054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397246704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036654228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926655767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Análisis Gráfico — MPU6050</a:t>
            </a:r>
            <a:endParaRPr lang="en-US" sz="1800"/>
          </a:p>
        </p:txBody>
      </p:sp>
      <p:sp>
        <p:nvSpPr>
          <p:cNvPr id="106807483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Medias por eje · Varianzas · Distribución de frecuencias Accel X</a:t>
            </a:r>
            <a:endParaRPr lang="en-US" sz="1200"/>
          </a:p>
        </p:txBody>
      </p:sp>
      <p:sp>
        <p:nvSpPr>
          <p:cNvPr id="1252331482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7269665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601801042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lang="en-US" sz="800"/>
          </a:p>
        </p:txBody>
      </p:sp>
      <p:graphicFrame>
        <p:nvGraphicFramePr>
          <p:cNvPr id="2008897337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182880" y="1572768"/>
          <a:ext cx="28346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81523230" name="Chart 1" descr=""/>
          <p:cNvGraphicFramePr>
            <a:graphicFrameLocks xmlns:a="http://schemas.openxmlformats.org/drawingml/2006/main"/>
          </p:cNvGraphicFramePr>
          <p:nvPr/>
        </p:nvGraphicFramePr>
        <p:xfrm rot="0">
          <a:off x="3154680" y="1572768"/>
          <a:ext cx="28346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376934" name="Chart 2" descr=""/>
          <p:cNvGraphicFramePr>
            <a:graphicFrameLocks xmlns:a="http://schemas.openxmlformats.org/drawingml/2006/main"/>
          </p:cNvGraphicFramePr>
          <p:nvPr/>
        </p:nvGraphicFramePr>
        <p:xfrm rot="0">
          <a:off x="6126480" y="1572768"/>
          <a:ext cx="2743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80073902" name="Chart 3" descr=""/>
          <p:cNvGraphicFramePr>
            <a:graphicFrameLocks xmlns:a="http://schemas.openxmlformats.org/drawingml/2006/main"/>
          </p:cNvGraphicFramePr>
          <p:nvPr/>
        </p:nvGraphicFramePr>
        <p:xfrm rot="0">
          <a:off x="182880" y="3749040"/>
          <a:ext cx="868680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815579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37712044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695012491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618956147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042273648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Regresión Lineal y Correlación de Pearson</a:t>
            </a:r>
            <a:endParaRPr lang="en-US" sz="1800"/>
          </a:p>
        </p:txBody>
      </p:sp>
      <p:sp>
        <p:nvSpPr>
          <p:cNvPr id="714189262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Accel X → Accel Y · Matriz de correlaciones 6 ejes</a:t>
            </a:r>
            <a:endParaRPr lang="en-US" sz="1200"/>
          </a:p>
        </p:txBody>
      </p:sp>
      <p:sp>
        <p:nvSpPr>
          <p:cNvPr id="258636933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97162240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941003607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lang="en-US" sz="800"/>
          </a:p>
        </p:txBody>
      </p:sp>
      <p:graphicFrame>
        <p:nvGraphicFramePr>
          <p:cNvPr id="2016825133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182880" y="1572768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4466258" name="Shape 9"/>
          <p:cNvSpPr/>
          <p:nvPr/>
        </p:nvSpPr>
        <p:spPr bwMode="auto">
          <a:xfrm>
            <a:off x="4434840" y="1572768"/>
            <a:ext cx="443484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97891428" name="Text 10"/>
          <p:cNvSpPr/>
          <p:nvPr/>
        </p:nvSpPr>
        <p:spPr bwMode="auto">
          <a:xfrm>
            <a:off x="4480560" y="160934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Parámetros de Regresión Accel X → Accel Y</a:t>
            </a:r>
            <a:endParaRPr lang="en-US" sz="900"/>
          </a:p>
        </p:txBody>
      </p:sp>
      <p:sp>
        <p:nvSpPr>
          <p:cNvPr id="1662222323" name="Text 11"/>
          <p:cNvSpPr/>
          <p:nvPr/>
        </p:nvSpPr>
        <p:spPr bwMode="auto">
          <a:xfrm>
            <a:off x="452628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Ecuación:</a:t>
            </a:r>
            <a:endParaRPr lang="en-US" sz="850"/>
          </a:p>
        </p:txBody>
      </p:sp>
      <p:sp>
        <p:nvSpPr>
          <p:cNvPr id="609243413" name="Text 12"/>
          <p:cNvSpPr/>
          <p:nvPr/>
        </p:nvSpPr>
        <p:spPr bwMode="auto">
          <a:xfrm>
            <a:off x="658368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ŷ = −0.1998 + 0.1631·x</a:t>
            </a:r>
            <a:endParaRPr lang="en-US" sz="850"/>
          </a:p>
        </p:txBody>
      </p:sp>
      <p:sp>
        <p:nvSpPr>
          <p:cNvPr id="1554323345" name="Text 13"/>
          <p:cNvSpPr/>
          <p:nvPr/>
        </p:nvSpPr>
        <p:spPr bwMode="auto">
          <a:xfrm>
            <a:off x="4526280" y="2212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r de Pearson:</a:t>
            </a:r>
            <a:endParaRPr lang="en-US" sz="850"/>
          </a:p>
        </p:txBody>
      </p:sp>
      <p:sp>
        <p:nvSpPr>
          <p:cNvPr id="493929570" name="Text 14"/>
          <p:cNvSpPr/>
          <p:nvPr/>
        </p:nvSpPr>
        <p:spPr bwMode="auto">
          <a:xfrm>
            <a:off x="6583680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0.178  →  correlación débil</a:t>
            </a:r>
            <a:endParaRPr lang="en-US" sz="850"/>
          </a:p>
        </p:txBody>
      </p:sp>
      <p:sp>
        <p:nvSpPr>
          <p:cNvPr id="454605470" name="Text 15"/>
          <p:cNvSpPr/>
          <p:nvPr/>
        </p:nvSpPr>
        <p:spPr bwMode="auto">
          <a:xfrm>
            <a:off x="4526280" y="2505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R² (determinación):</a:t>
            </a:r>
            <a:endParaRPr lang="en-US" sz="850"/>
          </a:p>
        </p:txBody>
      </p:sp>
      <p:sp>
        <p:nvSpPr>
          <p:cNvPr id="2061788316" name="Text 16"/>
          <p:cNvSpPr/>
          <p:nvPr/>
        </p:nvSpPr>
        <p:spPr bwMode="auto">
          <a:xfrm>
            <a:off x="658368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0.032  →  3.2% varianza explicada</a:t>
            </a:r>
            <a:endParaRPr lang="en-US" sz="850"/>
          </a:p>
        </p:txBody>
      </p:sp>
      <p:sp>
        <p:nvSpPr>
          <p:cNvPr id="663818764" name="Text 17"/>
          <p:cNvSpPr/>
          <p:nvPr/>
        </p:nvSpPr>
        <p:spPr bwMode="auto">
          <a:xfrm>
            <a:off x="45262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 estándar Se:</a:t>
            </a:r>
            <a:endParaRPr lang="en-US" sz="850"/>
          </a:p>
        </p:txBody>
      </p:sp>
      <p:sp>
        <p:nvSpPr>
          <p:cNvPr id="339752665" name="Text 18"/>
          <p:cNvSpPr/>
          <p:nvPr/>
        </p:nvSpPr>
        <p:spPr bwMode="auto">
          <a:xfrm>
            <a:off x="6583680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0.1261 g</a:t>
            </a:r>
            <a:endParaRPr lang="en-US" sz="850"/>
          </a:p>
        </p:txBody>
      </p:sp>
      <p:sp>
        <p:nvSpPr>
          <p:cNvPr id="1635817338" name="Text 19"/>
          <p:cNvSpPr/>
          <p:nvPr/>
        </p:nvSpPr>
        <p:spPr bwMode="auto">
          <a:xfrm>
            <a:off x="452628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Pendiente B₁:</a:t>
            </a:r>
            <a:endParaRPr lang="en-US" sz="850"/>
          </a:p>
        </p:txBody>
      </p:sp>
      <p:sp>
        <p:nvSpPr>
          <p:cNvPr id="253151653" name="Text 20"/>
          <p:cNvSpPr/>
          <p:nvPr/>
        </p:nvSpPr>
        <p:spPr bwMode="auto">
          <a:xfrm>
            <a:off x="6583680" y="3090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0.1631  (positiva)</a:t>
            </a:r>
            <a:endParaRPr lang="en-US" sz="850"/>
          </a:p>
        </p:txBody>
      </p:sp>
      <p:sp>
        <p:nvSpPr>
          <p:cNvPr id="338720841" name="Text 21"/>
          <p:cNvSpPr/>
          <p:nvPr/>
        </p:nvSpPr>
        <p:spPr bwMode="auto">
          <a:xfrm>
            <a:off x="452628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Intercepto B₀:</a:t>
            </a:r>
            <a:endParaRPr lang="en-US" sz="850"/>
          </a:p>
        </p:txBody>
      </p:sp>
      <p:sp>
        <p:nvSpPr>
          <p:cNvPr id="786251629" name="Text 22"/>
          <p:cNvSpPr/>
          <p:nvPr/>
        </p:nvSpPr>
        <p:spPr bwMode="auto">
          <a:xfrm>
            <a:off x="658368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−0.1998 g</a:t>
            </a:r>
            <a:endParaRPr lang="en-US" sz="850"/>
          </a:p>
        </p:txBody>
      </p:sp>
      <p:sp>
        <p:nvSpPr>
          <p:cNvPr id="1657687681" name="Text 23"/>
          <p:cNvSpPr/>
          <p:nvPr/>
        </p:nvSpPr>
        <p:spPr bwMode="auto">
          <a:xfrm>
            <a:off x="452628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n registros:</a:t>
            </a:r>
            <a:endParaRPr lang="en-US" sz="850"/>
          </a:p>
        </p:txBody>
      </p:sp>
      <p:sp>
        <p:nvSpPr>
          <p:cNvPr id="760941437" name="Text 24"/>
          <p:cNvSpPr/>
          <p:nvPr/>
        </p:nvSpPr>
        <p:spPr bwMode="auto">
          <a:xfrm>
            <a:off x="6583680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055A5"/>
                </a:solidFill>
                <a:latin typeface="Arial"/>
                <a:ea typeface="Arial"/>
                <a:cs typeface="Arial"/>
              </a:rPr>
              <a:t>31 válidos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28469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994037532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2097917653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300913103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607397724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Regresión Lineal y Correlación de Pearson</a:t>
            </a:r>
            <a:endParaRPr lang="en-US" sz="1800"/>
          </a:p>
        </p:txBody>
      </p:sp>
      <p:sp>
        <p:nvSpPr>
          <p:cNvPr id="947038025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Accel X → Accel Y · Matriz de correlaciones 6 ejes</a:t>
            </a:r>
            <a:endParaRPr lang="en-US" sz="1200"/>
          </a:p>
        </p:txBody>
      </p:sp>
      <p:sp>
        <p:nvSpPr>
          <p:cNvPr id="1525435367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7624895" name="Text 7"/>
          <p:cNvSpPr/>
          <p:nvPr/>
        </p:nvSpPr>
        <p:spPr bwMode="auto">
          <a:xfrm>
            <a:off x="91440" y="490804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1759439029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lang="en-US" sz="800"/>
          </a:p>
        </p:txBody>
      </p:sp>
      <p:sp>
        <p:nvSpPr>
          <p:cNvPr id="1276590554" name="Text 25"/>
          <p:cNvSpPr/>
          <p:nvPr/>
        </p:nvSpPr>
        <p:spPr bwMode="auto">
          <a:xfrm>
            <a:off x="182880" y="1527047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Correlaciones destacadas (|r| &gt; 0.3):</a:t>
            </a:r>
            <a:endParaRPr lang="en-US" sz="900"/>
          </a:p>
        </p:txBody>
      </p:sp>
      <p:graphicFrame>
        <p:nvGraphicFramePr>
          <p:cNvPr id="142225767" name="Table 0"/>
          <p:cNvGraphicFramePr>
            <a:graphicFrameLocks xmlns:a="http://schemas.openxmlformats.org/drawingml/2006/main"/>
          </p:cNvGraphicFramePr>
          <p:nvPr/>
        </p:nvGraphicFramePr>
        <p:xfrm rot="0">
          <a:off x="274320" y="1918607"/>
          <a:ext cx="8229600" cy="859803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45920"/>
                <a:gridCol w="1097280"/>
                <a:gridCol w="1371600"/>
                <a:gridCol w="1645920"/>
                <a:gridCol w="1097280"/>
                <a:gridCol w="1371600"/>
              </a:tblGrid>
              <a:tr h="17145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Par de ejes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 de Pearson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Interpretación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Par de ejes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 de Pearson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Interpretación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17145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Accel X – Accel Y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555555"/>
                          </a:solidFill>
                        </a:rPr>
                        <a:t>0.178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Débil +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Gyro X – Gyro Y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E65100"/>
                          </a:solidFill>
                        </a:rPr>
                        <a:t>0.660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E65100"/>
                          </a:solidFill>
                        </a:rPr>
                        <a:t>Moderada + ⚡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</a:tr>
              <a:tr h="17145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Accel X – Gyro Y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ED7D31"/>
                          </a:solidFill>
                        </a:rPr>
                        <a:t>0.426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ED7D31"/>
                          </a:solidFill>
                        </a:rPr>
                        <a:t>Moderada + ✓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Accel Z – Gyro Z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C62828"/>
                          </a:solidFill>
                        </a:rPr>
                        <a:t>−0.594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C62828"/>
                          </a:solidFill>
                        </a:rPr>
                        <a:t>Moderada − ⚡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</a:tr>
              <a:tr h="17145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Accel Y – Accel Z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C62828"/>
                          </a:solidFill>
                        </a:rPr>
                        <a:t>−0.616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C62828"/>
                          </a:solidFill>
                        </a:rPr>
                        <a:t>Moderada − ⚡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Gyro Y – Gyro Z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C62828"/>
                          </a:solidFill>
                        </a:rPr>
                        <a:t>−0.549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>
                          <a:solidFill>
                            <a:srgbClr val="C62828"/>
                          </a:solidFill>
                        </a:rPr>
                        <a:t>Moderada − ⚡</a:t>
                      </a:r>
                      <a:endParaRPr lang="en-US" sz="800"/>
                    </a:p>
                  </a:txBody>
                  <a:tcPr marL="91440" marR="91440" marT="45720" marB="45720">
                    <a:lnL w="6349" algn="ctr">
                      <a:solidFill>
                        <a:srgbClr val="BBBBBB"/>
                      </a:solidFill>
                    </a:lnL>
                    <a:lnR w="6349" algn="ctr">
                      <a:solidFill>
                        <a:srgbClr val="BBBBBB"/>
                      </a:solidFill>
                    </a:lnR>
                    <a:lnT w="6349" algn="ctr">
                      <a:solidFill>
                        <a:srgbClr val="BBBBBB"/>
                      </a:solidFill>
                    </a:lnT>
                    <a:lnB w="6349" algn="ctr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059739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38487360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060435957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180476351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315418159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Análisis Probabilístico — Modelos Estadísticos</a:t>
            </a:r>
            <a:endParaRPr lang="en-US" sz="1800"/>
          </a:p>
        </p:txBody>
      </p:sp>
      <p:sp>
        <p:nvSpPr>
          <p:cNvPr id="1746640458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Distribución Normal · TCL · Modelo Binomial Negativa BN(3, 0.9355)</a:t>
            </a:r>
            <a:endParaRPr lang="en-US" sz="1200"/>
          </a:p>
        </p:txBody>
      </p:sp>
      <p:sp>
        <p:nvSpPr>
          <p:cNvPr id="590676537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3000048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1737679081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lang="en-US" sz="800"/>
          </a:p>
        </p:txBody>
      </p:sp>
      <p:sp>
        <p:nvSpPr>
          <p:cNvPr id="889882046" name="Shape 9"/>
          <p:cNvSpPr/>
          <p:nvPr/>
        </p:nvSpPr>
        <p:spPr bwMode="auto">
          <a:xfrm>
            <a:off x="182880" y="1572768"/>
            <a:ext cx="4206240" cy="31089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7340500" name="Shape 10"/>
          <p:cNvSpPr/>
          <p:nvPr/>
        </p:nvSpPr>
        <p:spPr bwMode="auto">
          <a:xfrm>
            <a:off x="182880" y="1572768"/>
            <a:ext cx="4206240" cy="34747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55304802" name="Text 11"/>
          <p:cNvSpPr/>
          <p:nvPr/>
        </p:nvSpPr>
        <p:spPr bwMode="auto">
          <a:xfrm>
            <a:off x="228600" y="1600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Distribución Normal — Accel Z</a:t>
            </a:r>
            <a:endParaRPr lang="en-US" sz="1000"/>
          </a:p>
        </p:txBody>
      </p:sp>
      <p:sp>
        <p:nvSpPr>
          <p:cNvPr id="2072806949" name="Text 12"/>
          <p:cNvSpPr/>
          <p:nvPr/>
        </p:nvSpPr>
        <p:spPr bwMode="auto">
          <a:xfrm>
            <a:off x="274320" y="1993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Modelo: Accel Z ~ N(μ=1.034, σ²=0.001)</a:t>
            </a:r>
            <a:endParaRPr lang="en-US" sz="850"/>
          </a:p>
        </p:txBody>
      </p:sp>
      <p:sp>
        <p:nvSpPr>
          <p:cNvPr id="502267954" name="Text 13"/>
          <p:cNvSpPr/>
          <p:nvPr/>
        </p:nvSpPr>
        <p:spPr bwMode="auto">
          <a:xfrm>
            <a:off x="27432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CV = 3.2% → ajuste gaussiano confirmado</a:t>
            </a:r>
            <a:endParaRPr lang="en-US" sz="850"/>
          </a:p>
        </p:txBody>
      </p:sp>
      <p:sp>
        <p:nvSpPr>
          <p:cNvPr id="1522938098" name="Text 14"/>
          <p:cNvSpPr/>
          <p:nvPr/>
        </p:nvSpPr>
        <p:spPr bwMode="auto">
          <a:xfrm>
            <a:off x="27432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TCL con n=31: X̄ ~ N(μ, σ²/n)</a:t>
            </a:r>
            <a:endParaRPr lang="en-US" sz="850"/>
          </a:p>
        </p:txBody>
      </p:sp>
      <p:sp>
        <p:nvSpPr>
          <p:cNvPr id="1933015273" name="Text 15"/>
          <p:cNvSpPr/>
          <p:nvPr/>
        </p:nvSpPr>
        <p:spPr bwMode="auto">
          <a:xfrm>
            <a:off x="274320" y="28712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 estándar: σ/√n = 0.033/√31 = 0.006 g</a:t>
            </a:r>
            <a:endParaRPr lang="en-US" sz="850"/>
          </a:p>
        </p:txBody>
      </p:sp>
      <p:sp>
        <p:nvSpPr>
          <p:cNvPr id="401456138" name="Text 16"/>
          <p:cNvSpPr/>
          <p:nvPr/>
        </p:nvSpPr>
        <p:spPr bwMode="auto">
          <a:xfrm>
            <a:off x="274320" y="3163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IC 95%: 1.034 ± 1.96 × 0.006</a:t>
            </a:r>
            <a:endParaRPr lang="en-US" sz="850"/>
          </a:p>
        </p:txBody>
      </p:sp>
      <p:sp>
        <p:nvSpPr>
          <p:cNvPr id="1844837403" name="Text 17"/>
          <p:cNvSpPr/>
          <p:nvPr/>
        </p:nvSpPr>
        <p:spPr bwMode="auto">
          <a:xfrm>
            <a:off x="27432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IC 95%: [1.021 g, 1.046 g] ✓</a:t>
            </a:r>
            <a:endParaRPr lang="en-US" sz="850"/>
          </a:p>
        </p:txBody>
      </p:sp>
      <p:sp>
        <p:nvSpPr>
          <p:cNvPr id="1418215884" name="Text 18"/>
          <p:cNvSpPr/>
          <p:nvPr/>
        </p:nvSpPr>
        <p:spPr bwMode="auto">
          <a:xfrm>
            <a:off x="27432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→ Horizontalidad sostenida confirmada</a:t>
            </a:r>
            <a:endParaRPr lang="en-US" sz="850"/>
          </a:p>
        </p:txBody>
      </p:sp>
      <p:sp>
        <p:nvSpPr>
          <p:cNvPr id="2095263958" name="Text 19"/>
          <p:cNvSpPr/>
          <p:nvPr/>
        </p:nvSpPr>
        <p:spPr bwMode="auto">
          <a:xfrm>
            <a:off x="274320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P(Accel Z &lt; 1g) = P(Z &lt; −5.6) ≈ 0.00001</a:t>
            </a:r>
            <a:endParaRPr lang="en-US" sz="850"/>
          </a:p>
        </p:txBody>
      </p:sp>
      <p:sp>
        <p:nvSpPr>
          <p:cNvPr id="407267838" name="Text 20"/>
          <p:cNvSpPr/>
          <p:nvPr/>
        </p:nvSpPr>
        <p:spPr bwMode="auto">
          <a:xfrm>
            <a:off x="274320" y="4334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→ Prácticamente imposible caer plano</a:t>
            </a:r>
            <a:endParaRPr lang="en-US" sz="850"/>
          </a:p>
        </p:txBody>
      </p:sp>
      <p:sp>
        <p:nvSpPr>
          <p:cNvPr id="1756174021" name="Shape 21"/>
          <p:cNvSpPr/>
          <p:nvPr/>
        </p:nvSpPr>
        <p:spPr bwMode="auto">
          <a:xfrm>
            <a:off x="4617720" y="1572768"/>
            <a:ext cx="4251960" cy="3108960"/>
          </a:xfrm>
          <a:prstGeom prst="rect">
            <a:avLst/>
          </a:prstGeom>
          <a:solidFill>
            <a:srgbClr val="FFF8E8"/>
          </a:solidFill>
          <a:ln w="12700">
            <a:solidFill>
              <a:srgbClr val="ED7D31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237332657" name="Shape 22"/>
          <p:cNvSpPr/>
          <p:nvPr/>
        </p:nvSpPr>
        <p:spPr bwMode="auto">
          <a:xfrm>
            <a:off x="4617720" y="1572768"/>
            <a:ext cx="425196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71533987" name="Text 23"/>
          <p:cNvSpPr/>
          <p:nvPr/>
        </p:nvSpPr>
        <p:spPr bwMode="auto">
          <a:xfrm>
            <a:off x="4663440" y="1600200"/>
            <a:ext cx="41605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Binomial Negativa BN(3, p)</a:t>
            </a:r>
            <a:endParaRPr lang="en-US" sz="1000"/>
          </a:p>
        </p:txBody>
      </p:sp>
      <p:sp>
        <p:nvSpPr>
          <p:cNvPr id="1365315439" name="Text 24"/>
          <p:cNvSpPr/>
          <p:nvPr/>
        </p:nvSpPr>
        <p:spPr bwMode="auto">
          <a:xfrm>
            <a:off x="4663440" y="1993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Definición del éxito:</a:t>
            </a:r>
            <a:endParaRPr lang="en-US" sz="850"/>
          </a:p>
        </p:txBody>
      </p:sp>
      <p:sp>
        <p:nvSpPr>
          <p:cNvPr id="685503686" name="Text 25"/>
          <p:cNvSpPr/>
          <p:nvPr/>
        </p:nvSpPr>
        <p:spPr bwMode="auto">
          <a:xfrm>
            <a:off x="617220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Gyro Z &lt; 10 °/s (disparo estable)</a:t>
            </a:r>
            <a:endParaRPr lang="en-US" sz="850"/>
          </a:p>
        </p:txBody>
      </p:sp>
      <p:sp>
        <p:nvSpPr>
          <p:cNvPr id="1451712264" name="Text 26"/>
          <p:cNvSpPr/>
          <p:nvPr/>
        </p:nvSpPr>
        <p:spPr bwMode="auto">
          <a:xfrm>
            <a:off x="466344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Estimación de p:</a:t>
            </a:r>
            <a:endParaRPr lang="en-US" sz="850"/>
          </a:p>
        </p:txBody>
      </p:sp>
      <p:sp>
        <p:nvSpPr>
          <p:cNvPr id="1040355207" name="Text 27"/>
          <p:cNvSpPr/>
          <p:nvPr/>
        </p:nvSpPr>
        <p:spPr bwMode="auto">
          <a:xfrm>
            <a:off x="617220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29/31 = 0.9355 estables</a:t>
            </a:r>
            <a:endParaRPr lang="en-US" sz="850"/>
          </a:p>
        </p:txBody>
      </p:sp>
      <p:sp>
        <p:nvSpPr>
          <p:cNvPr id="535560285" name="Text 28"/>
          <p:cNvSpPr/>
          <p:nvPr/>
        </p:nvSpPr>
        <p:spPr bwMode="auto">
          <a:xfrm>
            <a:off x="4663440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Parámetros:</a:t>
            </a:r>
            <a:endParaRPr lang="en-US" sz="850"/>
          </a:p>
        </p:txBody>
      </p:sp>
      <p:sp>
        <p:nvSpPr>
          <p:cNvPr id="938562949" name="Text 29"/>
          <p:cNvSpPr/>
          <p:nvPr/>
        </p:nvSpPr>
        <p:spPr bwMode="auto">
          <a:xfrm>
            <a:off x="6172200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r=3, p=0.9355 → BN(3, 0.9355)</a:t>
            </a:r>
            <a:endParaRPr lang="en-US" sz="850"/>
          </a:p>
        </p:txBody>
      </p:sp>
      <p:sp>
        <p:nvSpPr>
          <p:cNvPr id="184830763" name="Text 30"/>
          <p:cNvSpPr/>
          <p:nvPr/>
        </p:nvSpPr>
        <p:spPr bwMode="auto">
          <a:xfrm>
            <a:off x="466344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E[X] = r/p:</a:t>
            </a:r>
            <a:endParaRPr lang="en-US" sz="850"/>
          </a:p>
        </p:txBody>
      </p:sp>
      <p:sp>
        <p:nvSpPr>
          <p:cNvPr id="545067708" name="Text 31"/>
          <p:cNvSpPr/>
          <p:nvPr/>
        </p:nvSpPr>
        <p:spPr bwMode="auto">
          <a:xfrm>
            <a:off x="6172200" y="2871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3.207 disparos esperados</a:t>
            </a:r>
            <a:endParaRPr lang="en-US" sz="850"/>
          </a:p>
        </p:txBody>
      </p:sp>
      <p:sp>
        <p:nvSpPr>
          <p:cNvPr id="1024417983" name="Text 32"/>
          <p:cNvSpPr/>
          <p:nvPr/>
        </p:nvSpPr>
        <p:spPr bwMode="auto">
          <a:xfrm>
            <a:off x="4663440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Var[X]:</a:t>
            </a:r>
            <a:endParaRPr lang="en-US" sz="850"/>
          </a:p>
        </p:txBody>
      </p:sp>
      <p:sp>
        <p:nvSpPr>
          <p:cNvPr id="1412623478" name="Text 33"/>
          <p:cNvSpPr/>
          <p:nvPr/>
        </p:nvSpPr>
        <p:spPr bwMode="auto">
          <a:xfrm>
            <a:off x="6172200" y="3163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0.221 · σ[X] = 0.470</a:t>
            </a:r>
            <a:endParaRPr lang="en-US" sz="850"/>
          </a:p>
        </p:txBody>
      </p:sp>
      <p:sp>
        <p:nvSpPr>
          <p:cNvPr id="343584853" name="Text 34"/>
          <p:cNvSpPr/>
          <p:nvPr/>
        </p:nvSpPr>
        <p:spPr bwMode="auto">
          <a:xfrm>
            <a:off x="4663440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P(X=3):</a:t>
            </a:r>
            <a:endParaRPr lang="en-US" sz="850"/>
          </a:p>
        </p:txBody>
      </p:sp>
      <p:sp>
        <p:nvSpPr>
          <p:cNvPr id="1857490940" name="Text 35"/>
          <p:cNvSpPr/>
          <p:nvPr/>
        </p:nvSpPr>
        <p:spPr bwMode="auto">
          <a:xfrm>
            <a:off x="6172200" y="3456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0.819  →  81.9% ✓</a:t>
            </a:r>
            <a:endParaRPr lang="en-US" sz="850"/>
          </a:p>
        </p:txBody>
      </p:sp>
      <p:sp>
        <p:nvSpPr>
          <p:cNvPr id="126541100" name="Text 36"/>
          <p:cNvSpPr/>
          <p:nvPr/>
        </p:nvSpPr>
        <p:spPr bwMode="auto">
          <a:xfrm>
            <a:off x="4663440" y="3749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P(X=4):</a:t>
            </a:r>
            <a:endParaRPr lang="en-US" sz="850"/>
          </a:p>
        </p:txBody>
      </p:sp>
      <p:sp>
        <p:nvSpPr>
          <p:cNvPr id="1474034292" name="Text 37"/>
          <p:cNvSpPr/>
          <p:nvPr/>
        </p:nvSpPr>
        <p:spPr bwMode="auto">
          <a:xfrm>
            <a:off x="617220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0.158  →  15.8%</a:t>
            </a:r>
            <a:endParaRPr lang="en-US" sz="850"/>
          </a:p>
        </p:txBody>
      </p:sp>
      <p:sp>
        <p:nvSpPr>
          <p:cNvPr id="806684334" name="Text 38"/>
          <p:cNvSpPr/>
          <p:nvPr/>
        </p:nvSpPr>
        <p:spPr bwMode="auto">
          <a:xfrm>
            <a:off x="4663440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P(X≤5):</a:t>
            </a:r>
            <a:endParaRPr lang="en-US" sz="850"/>
          </a:p>
        </p:txBody>
      </p:sp>
      <p:sp>
        <p:nvSpPr>
          <p:cNvPr id="2672693" name="Text 39"/>
          <p:cNvSpPr/>
          <p:nvPr/>
        </p:nvSpPr>
        <p:spPr bwMode="auto">
          <a:xfrm>
            <a:off x="617220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0.998  →  99.8% acumulado</a:t>
            </a:r>
            <a:endParaRPr lang="en-US" sz="850"/>
          </a:p>
        </p:txBody>
      </p:sp>
      <p:sp>
        <p:nvSpPr>
          <p:cNvPr id="603740773" name="Text 40"/>
          <p:cNvSpPr/>
          <p:nvPr/>
        </p:nvSpPr>
        <p:spPr bwMode="auto">
          <a:xfrm>
            <a:off x="466344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Conclusión:</a:t>
            </a:r>
            <a:endParaRPr lang="en-US" sz="850"/>
          </a:p>
        </p:txBody>
      </p:sp>
      <p:sp>
        <p:nvSpPr>
          <p:cNvPr id="2107521718" name="Text 41"/>
          <p:cNvSpPr/>
          <p:nvPr/>
        </p:nvSpPr>
        <p:spPr bwMode="auto">
          <a:xfrm>
            <a:off x="6172200" y="4334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Alta confiabilidad operativa</a:t>
            </a:r>
            <a:endParaRPr lang="en-US" sz="850"/>
          </a:p>
        </p:txBody>
      </p:sp>
      <p:sp>
        <p:nvSpPr>
          <p:cNvPr id="324391509" name="Shape 42"/>
          <p:cNvSpPr/>
          <p:nvPr/>
        </p:nvSpPr>
        <p:spPr bwMode="auto">
          <a:xfrm>
            <a:off x="4617720" y="4407408"/>
            <a:ext cx="4251960" cy="274320"/>
          </a:xfrm>
          <a:prstGeom prst="rect">
            <a:avLst/>
          </a:prstGeom>
          <a:solidFill>
            <a:srgbClr val="FFF0D0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2018199660" name="Text 43"/>
          <p:cNvSpPr/>
          <p:nvPr/>
        </p:nvSpPr>
        <p:spPr bwMode="auto">
          <a:xfrm>
            <a:off x="4663440" y="4434840"/>
            <a:ext cx="41605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7B4A00"/>
                </a:solidFill>
                <a:latin typeface="Arial"/>
                <a:ea typeface="Arial"/>
                <a:cs typeface="Arial"/>
              </a:rPr>
              <a:t>P(X=3)=0.819 ✓  ·  P(X=4)=0.158  ·  P(X≤5)=99.8%  →  Alta confiabilidad operativa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353941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92596290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286316273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528276904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784833015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Dashboard Web y Repositorio</a:t>
            </a:r>
            <a:endParaRPr lang="en-US" sz="1800"/>
          </a:p>
        </p:txBody>
      </p:sp>
      <p:sp>
        <p:nvSpPr>
          <p:cNvPr id="406357384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Visualización en tiempo real · API pública · Código abierto</a:t>
            </a:r>
            <a:endParaRPr lang="en-US" sz="1200"/>
          </a:p>
        </p:txBody>
      </p:sp>
      <p:sp>
        <p:nvSpPr>
          <p:cNvPr id="1025935106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0356764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646599381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lang="en-US" sz="800"/>
          </a:p>
        </p:txBody>
      </p:sp>
      <p:sp>
        <p:nvSpPr>
          <p:cNvPr id="682330101" name="Shape 9"/>
          <p:cNvSpPr/>
          <p:nvPr/>
        </p:nvSpPr>
        <p:spPr bwMode="auto">
          <a:xfrm>
            <a:off x="274320" y="1691640"/>
            <a:ext cx="2560320" cy="1234440"/>
          </a:xfrm>
          <a:prstGeom prst="rect">
            <a:avLst/>
          </a:prstGeom>
          <a:solidFill>
            <a:srgbClr val="F5F8FF"/>
          </a:solidFill>
          <a:ln w="9525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469255577" name="Text 10"/>
          <p:cNvSpPr/>
          <p:nvPr/>
        </p:nvSpPr>
        <p:spPr bwMode="auto">
          <a:xfrm>
            <a:off x="365760" y="1764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📊</a:t>
            </a:r>
            <a:endParaRPr lang="en-US" sz="1800"/>
          </a:p>
        </p:txBody>
      </p:sp>
      <p:sp>
        <p:nvSpPr>
          <p:cNvPr id="1085333955" name="Text 11"/>
          <p:cNvSpPr/>
          <p:nvPr/>
        </p:nvSpPr>
        <p:spPr bwMode="auto">
          <a:xfrm>
            <a:off x="82296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Radar (Barrel)</a:t>
            </a:r>
            <a:endParaRPr lang="en-US" sz="1000"/>
          </a:p>
        </p:txBody>
      </p:sp>
      <p:sp>
        <p:nvSpPr>
          <p:cNvPr id="1922907833" name="Text 12"/>
          <p:cNvSpPr/>
          <p:nvPr/>
        </p:nvSpPr>
        <p:spPr bwMode="auto">
          <a:xfrm>
            <a:off x="365760" y="21488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6 ejes normalizados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por disparo o global</a:t>
            </a:r>
            <a:endParaRPr lang="en-US" sz="850"/>
          </a:p>
        </p:txBody>
      </p:sp>
      <p:sp>
        <p:nvSpPr>
          <p:cNvPr id="1704914325" name="Shape 13"/>
          <p:cNvSpPr/>
          <p:nvPr/>
        </p:nvSpPr>
        <p:spPr bwMode="auto">
          <a:xfrm>
            <a:off x="3108960" y="1691640"/>
            <a:ext cx="2560320" cy="1234440"/>
          </a:xfrm>
          <a:prstGeom prst="rect">
            <a:avLst/>
          </a:prstGeom>
          <a:solidFill>
            <a:srgbClr val="F5F8FF"/>
          </a:solidFill>
          <a:ln w="9525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296317843" name="Text 14"/>
          <p:cNvSpPr/>
          <p:nvPr/>
        </p:nvSpPr>
        <p:spPr bwMode="auto">
          <a:xfrm>
            <a:off x="3200400" y="1764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📈</a:t>
            </a:r>
            <a:endParaRPr lang="en-US" sz="1800"/>
          </a:p>
        </p:txBody>
      </p:sp>
      <p:sp>
        <p:nvSpPr>
          <p:cNvPr id="1728451345" name="Text 15"/>
          <p:cNvSpPr/>
          <p:nvPr/>
        </p:nvSpPr>
        <p:spPr bwMode="auto">
          <a:xfrm>
            <a:off x="365760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Acelerómetro</a:t>
            </a:r>
            <a:endParaRPr lang="en-US" sz="1000"/>
          </a:p>
        </p:txBody>
      </p:sp>
      <p:sp>
        <p:nvSpPr>
          <p:cNvPr id="1816014583" name="Text 16"/>
          <p:cNvSpPr/>
          <p:nvPr/>
        </p:nvSpPr>
        <p:spPr bwMode="auto">
          <a:xfrm>
            <a:off x="3200400" y="21488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Evolución temporal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Media Accel X/Y/Z</a:t>
            </a:r>
            <a:endParaRPr lang="en-US" sz="850"/>
          </a:p>
        </p:txBody>
      </p:sp>
      <p:sp>
        <p:nvSpPr>
          <p:cNvPr id="893001034" name="Shape 17"/>
          <p:cNvSpPr/>
          <p:nvPr/>
        </p:nvSpPr>
        <p:spPr bwMode="auto">
          <a:xfrm>
            <a:off x="5943600" y="1691640"/>
            <a:ext cx="2560320" cy="1234440"/>
          </a:xfrm>
          <a:prstGeom prst="rect">
            <a:avLst/>
          </a:prstGeom>
          <a:solidFill>
            <a:srgbClr val="F5F8FF"/>
          </a:solidFill>
          <a:ln w="9525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198668521" name="Text 18"/>
          <p:cNvSpPr/>
          <p:nvPr/>
        </p:nvSpPr>
        <p:spPr bwMode="auto">
          <a:xfrm>
            <a:off x="6035039" y="1764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🌀</a:t>
            </a:r>
            <a:endParaRPr lang="en-US" sz="1800"/>
          </a:p>
        </p:txBody>
      </p:sp>
      <p:sp>
        <p:nvSpPr>
          <p:cNvPr id="983212847" name="Text 19"/>
          <p:cNvSpPr/>
          <p:nvPr/>
        </p:nvSpPr>
        <p:spPr bwMode="auto">
          <a:xfrm>
            <a:off x="649224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Giroscopio</a:t>
            </a:r>
            <a:endParaRPr lang="en-US" sz="1000"/>
          </a:p>
        </p:txBody>
      </p:sp>
      <p:sp>
        <p:nvSpPr>
          <p:cNvPr id="1266427536" name="Text 20"/>
          <p:cNvSpPr/>
          <p:nvPr/>
        </p:nvSpPr>
        <p:spPr bwMode="auto">
          <a:xfrm>
            <a:off x="6035039" y="21488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Histograma Gyro X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Varianza por eje</a:t>
            </a:r>
            <a:endParaRPr lang="en-US" sz="850"/>
          </a:p>
        </p:txBody>
      </p:sp>
      <p:sp>
        <p:nvSpPr>
          <p:cNvPr id="1386617009" name="Shape 21"/>
          <p:cNvSpPr/>
          <p:nvPr/>
        </p:nvSpPr>
        <p:spPr bwMode="auto">
          <a:xfrm>
            <a:off x="274320" y="3108960"/>
            <a:ext cx="2560320" cy="1234440"/>
          </a:xfrm>
          <a:prstGeom prst="rect">
            <a:avLst/>
          </a:prstGeom>
          <a:solidFill>
            <a:srgbClr val="F5F8FF"/>
          </a:solidFill>
          <a:ln w="9525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696687363" name="Text 22"/>
          <p:cNvSpPr/>
          <p:nvPr/>
        </p:nvSpPr>
        <p:spPr bwMode="auto">
          <a:xfrm>
            <a:off x="365760" y="31821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📉</a:t>
            </a:r>
            <a:endParaRPr lang="en-US" sz="1800"/>
          </a:p>
        </p:txBody>
      </p:sp>
      <p:sp>
        <p:nvSpPr>
          <p:cNvPr id="1243932385" name="Text 23"/>
          <p:cNvSpPr/>
          <p:nvPr/>
        </p:nvSpPr>
        <p:spPr bwMode="auto">
          <a:xfrm>
            <a:off x="82296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Dispersión</a:t>
            </a:r>
            <a:endParaRPr lang="en-US" sz="1000"/>
          </a:p>
        </p:txBody>
      </p:sp>
      <p:sp>
        <p:nvSpPr>
          <p:cNvPr id="1362887281" name="Text 24"/>
          <p:cNvSpPr/>
          <p:nvPr/>
        </p:nvSpPr>
        <p:spPr bwMode="auto">
          <a:xfrm>
            <a:off x="365760" y="35661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Accel X vs Accel Y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r Pearson en leyenda</a:t>
            </a:r>
            <a:endParaRPr lang="en-US" sz="850"/>
          </a:p>
        </p:txBody>
      </p:sp>
      <p:sp>
        <p:nvSpPr>
          <p:cNvPr id="637830993" name="Shape 25"/>
          <p:cNvSpPr/>
          <p:nvPr/>
        </p:nvSpPr>
        <p:spPr bwMode="auto">
          <a:xfrm>
            <a:off x="3108960" y="3108960"/>
            <a:ext cx="2560320" cy="1234440"/>
          </a:xfrm>
          <a:prstGeom prst="rect">
            <a:avLst/>
          </a:prstGeom>
          <a:solidFill>
            <a:srgbClr val="F5F8FF"/>
          </a:solidFill>
          <a:ln w="9525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1179227851" name="Text 26"/>
          <p:cNvSpPr/>
          <p:nvPr/>
        </p:nvSpPr>
        <p:spPr bwMode="auto">
          <a:xfrm>
            <a:off x="3200400" y="31821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🔢</a:t>
            </a:r>
            <a:endParaRPr lang="en-US" sz="1800"/>
          </a:p>
        </p:txBody>
      </p:sp>
      <p:sp>
        <p:nvSpPr>
          <p:cNvPr id="1782986248" name="Text 27"/>
          <p:cNvSpPr/>
          <p:nvPr/>
        </p:nvSpPr>
        <p:spPr bwMode="auto">
          <a:xfrm>
            <a:off x="365760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Estadística</a:t>
            </a:r>
            <a:endParaRPr lang="en-US" sz="1000"/>
          </a:p>
        </p:txBody>
      </p:sp>
      <p:sp>
        <p:nvSpPr>
          <p:cNvPr id="135592230" name="Text 28"/>
          <p:cNvSpPr/>
          <p:nvPr/>
        </p:nvSpPr>
        <p:spPr bwMode="auto">
          <a:xfrm>
            <a:off x="3200400" y="35661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Tabla completa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IC · TCL · Binomial</a:t>
            </a:r>
            <a:endParaRPr lang="en-US" sz="850"/>
          </a:p>
        </p:txBody>
      </p:sp>
      <p:sp>
        <p:nvSpPr>
          <p:cNvPr id="346636570" name="Shape 29"/>
          <p:cNvSpPr/>
          <p:nvPr/>
        </p:nvSpPr>
        <p:spPr bwMode="auto">
          <a:xfrm>
            <a:off x="5943600" y="3108960"/>
            <a:ext cx="2560320" cy="1234440"/>
          </a:xfrm>
          <a:prstGeom prst="rect">
            <a:avLst/>
          </a:prstGeom>
          <a:solidFill>
            <a:srgbClr val="F5F8FF"/>
          </a:solidFill>
          <a:ln w="9525">
            <a:solidFill>
              <a:srgbClr val="0055A5"/>
            </a:solidFill>
            <a:prstDash val="solid"/>
          </a:ln>
          <a:effectLst>
            <a:outerShdw blurRad="50800" dist="25400" dir="8100000" sx="100000" sy="100000" kx="0" ky="0" algn="bl" rotWithShape="0">
              <a:srgbClr val="000000">
                <a:alpha val="15000"/>
              </a:srgbClr>
            </a:outerShdw>
          </a:effectLst>
        </p:spPr>
      </p:sp>
      <p:sp>
        <p:nvSpPr>
          <p:cNvPr id="939542014" name="Text 30"/>
          <p:cNvSpPr/>
          <p:nvPr/>
        </p:nvSpPr>
        <p:spPr bwMode="auto">
          <a:xfrm>
            <a:off x="6035039" y="31821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⬇️</a:t>
            </a:r>
            <a:endParaRPr lang="en-US" sz="1800"/>
          </a:p>
        </p:txBody>
      </p:sp>
      <p:sp>
        <p:nvSpPr>
          <p:cNvPr id="530310586" name="Text 31"/>
          <p:cNvSpPr/>
          <p:nvPr/>
        </p:nvSpPr>
        <p:spPr bwMode="auto">
          <a:xfrm>
            <a:off x="649224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Excel Export</a:t>
            </a:r>
            <a:endParaRPr lang="en-US" sz="1000"/>
          </a:p>
        </p:txBody>
      </p:sp>
      <p:sp>
        <p:nvSpPr>
          <p:cNvPr id="111127306" name="Text 32"/>
          <p:cNvSpPr/>
          <p:nvPr/>
        </p:nvSpPr>
        <p:spPr bwMode="auto">
          <a:xfrm>
            <a:off x="6035039" y="35661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Datos + análisis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Descargable en /api</a:t>
            </a:r>
            <a:endParaRPr lang="en-US" sz="850"/>
          </a:p>
        </p:txBody>
      </p:sp>
      <p:sp>
        <p:nvSpPr>
          <p:cNvPr id="1357149343" name="Shape 33"/>
          <p:cNvSpPr/>
          <p:nvPr/>
        </p:nvSpPr>
        <p:spPr bwMode="auto">
          <a:xfrm>
            <a:off x="274320" y="4572000"/>
            <a:ext cx="8595360" cy="182880"/>
          </a:xfrm>
          <a:prstGeom prst="rect">
            <a:avLst/>
          </a:prstGeom>
          <a:solidFill>
            <a:srgbClr val="F0F4FF"/>
          </a:solidFill>
          <a:ln w="6350">
            <a:solidFill>
              <a:srgbClr val="4472C4"/>
            </a:solidFill>
            <a:prstDash val="solid"/>
          </a:ln>
        </p:spPr>
      </p:sp>
      <p:sp>
        <p:nvSpPr>
          <p:cNvPr id="1991929156" name="Text 34"/>
          <p:cNvSpPr/>
          <p:nvPr/>
        </p:nvSpPr>
        <p:spPr bwMode="auto"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50" i="1">
                <a:solidFill>
                  <a:srgbClr val="0055A5"/>
                </a:solidFill>
                <a:latin typeface="Arial"/>
                <a:ea typeface="Arial"/>
                <a:cs typeface="Arial"/>
              </a:rPr>
              <a:t>🌐 dron-agricola-api-3.onrender.com  ·  💻 github.com/Jeff07K/DRON_AGRICOLA_API  ·  📱 APK Android disponible en /static/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85085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924468754" name="Text 1"/>
          <p:cNvSpPr/>
          <p:nvPr/>
        </p:nvSpPr>
        <p:spPr bwMode="auto">
          <a:xfrm>
            <a:off x="91440" y="45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UCC</a:t>
            </a:r>
            <a:endParaRPr lang="en-US" sz="1400"/>
          </a:p>
        </p:txBody>
      </p:sp>
      <p:sp>
        <p:nvSpPr>
          <p:cNvPr id="1328197175" name="Text 2"/>
          <p:cNvSpPr/>
          <p:nvPr/>
        </p:nvSpPr>
        <p:spPr bwMode="auto">
          <a:xfrm>
            <a:off x="292608" y="45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UNIVERSIDAD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CATÓLICA</a:t>
            </a:r>
            <a:endParaRPr lang="en-US" sz="550"/>
          </a:p>
          <a:p>
            <a:pPr marL="0" indent="0">
              <a:buNone/>
              <a:defRPr/>
            </a:pPr>
            <a:r>
              <a:rPr lang="en-US" sz="550">
                <a:solidFill>
                  <a:srgbClr val="FFFFFF"/>
                </a:solidFill>
                <a:latin typeface="Arial"/>
                <a:ea typeface="Arial"/>
                <a:cs typeface="Arial"/>
              </a:rPr>
              <a:t>DE COLOMBIA</a:t>
            </a:r>
            <a:endParaRPr lang="en-US" sz="550"/>
          </a:p>
        </p:txBody>
      </p:sp>
      <p:sp>
        <p:nvSpPr>
          <p:cNvPr id="2120033968" name="Shape 3"/>
          <p:cNvSpPr/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1156795022" name="Text 4"/>
          <p:cNvSpPr/>
          <p:nvPr/>
        </p:nvSpPr>
        <p:spPr bwMode="auto">
          <a:xfrm>
            <a:off x="27432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055A5"/>
                </a:solidFill>
                <a:latin typeface="Arial"/>
                <a:ea typeface="Arial"/>
                <a:cs typeface="Arial"/>
              </a:rPr>
              <a:t>Resultados y Conclusiones</a:t>
            </a:r>
            <a:endParaRPr lang="en-US" sz="1800"/>
          </a:p>
        </p:txBody>
      </p:sp>
      <p:sp>
        <p:nvSpPr>
          <p:cNvPr id="331983263" name="Text 5"/>
          <p:cNvSpPr/>
          <p:nvPr/>
        </p:nvSpPr>
        <p:spPr bwMode="auto">
          <a:xfrm>
            <a:off x="27432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Validación del sistema · Hallazgos estadísticos · Recomendaciones</a:t>
            </a:r>
            <a:endParaRPr lang="en-US" sz="1200"/>
          </a:p>
        </p:txBody>
      </p:sp>
      <p:sp>
        <p:nvSpPr>
          <p:cNvPr id="19186156" name="Shape 6"/>
          <p:cNvSpPr/>
          <p:nvPr/>
        </p:nvSpPr>
        <p:spPr bwMode="auto">
          <a:xfrm>
            <a:off x="0" y="4892039"/>
            <a:ext cx="9144000" cy="2514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439770811" name="Text 7"/>
          <p:cNvSpPr/>
          <p:nvPr/>
        </p:nvSpPr>
        <p:spPr bwMode="auto">
          <a:xfrm>
            <a:off x="182880" y="4901184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Bejarano Parada · 67001609 · Universidad Católica de Colombia · 2026-1</a:t>
            </a:r>
            <a:endParaRPr lang="en-US" sz="700"/>
          </a:p>
        </p:txBody>
      </p:sp>
      <p:sp>
        <p:nvSpPr>
          <p:cNvPr id="604200365" name="Text 8"/>
          <p:cNvSpPr/>
          <p:nvPr/>
        </p:nvSpPr>
        <p:spPr bwMode="auto">
          <a:xfrm>
            <a:off x="8778240" y="4901184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  <a:endParaRPr lang="en-US" sz="800"/>
          </a:p>
        </p:txBody>
      </p:sp>
      <p:sp>
        <p:nvSpPr>
          <p:cNvPr id="109276453" name="Shape 9"/>
          <p:cNvSpPr/>
          <p:nvPr/>
        </p:nvSpPr>
        <p:spPr bwMode="auto">
          <a:xfrm>
            <a:off x="182880" y="1572768"/>
            <a:ext cx="4297680" cy="2240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22282865" name="Shape 10"/>
          <p:cNvSpPr/>
          <p:nvPr/>
        </p:nvSpPr>
        <p:spPr bwMode="auto">
          <a:xfrm>
            <a:off x="182880" y="1572768"/>
            <a:ext cx="42976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5950846" name="Text 11"/>
          <p:cNvSpPr/>
          <p:nvPr/>
        </p:nvSpPr>
        <p:spPr bwMode="auto">
          <a:xfrm>
            <a:off x="228600" y="16002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✅  Resultados Obtenidos</a:t>
            </a:r>
            <a:endParaRPr lang="en-US" sz="1000"/>
          </a:p>
        </p:txBody>
      </p:sp>
      <p:sp>
        <p:nvSpPr>
          <p:cNvPr id="1687318240" name="Text 12"/>
          <p:cNvSpPr/>
          <p:nvPr/>
        </p:nvSpPr>
        <p:spPr bwMode="auto">
          <a:xfrm>
            <a:off x="274320" y="19842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Robot operativo vía Bluetooth sin servomotores</a:t>
            </a:r>
            <a:endParaRPr lang="en-US" sz="850"/>
          </a:p>
        </p:txBody>
      </p:sp>
      <p:sp>
        <p:nvSpPr>
          <p:cNvPr id="967398628" name="Text 13"/>
          <p:cNvSpPr/>
          <p:nvPr/>
        </p:nvSpPr>
        <p:spPr bwMode="auto">
          <a:xfrm>
            <a:off x="274320" y="22494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31 registros persistidos en Neon PostgreSQL</a:t>
            </a:r>
            <a:endParaRPr lang="en-US" sz="850"/>
          </a:p>
        </p:txBody>
      </p:sp>
      <p:sp>
        <p:nvSpPr>
          <p:cNvPr id="430601066" name="Text 14"/>
          <p:cNvSpPr/>
          <p:nvPr/>
        </p:nvSpPr>
        <p:spPr bwMode="auto">
          <a:xfrm>
            <a:off x="274320" y="2514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Accel Z: μ=1.034 g, CV=3.2% → horizontalidad ✓</a:t>
            </a:r>
            <a:endParaRPr lang="en-US" sz="850"/>
          </a:p>
        </p:txBody>
      </p:sp>
      <p:sp>
        <p:nvSpPr>
          <p:cNvPr id="374296811" name="Text 15"/>
          <p:cNvSpPr/>
          <p:nvPr/>
        </p:nvSpPr>
        <p:spPr bwMode="auto">
          <a:xfrm>
            <a:off x="274320" y="27797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Gyro X: σ=11.76°/s → dinámica diferencial real</a:t>
            </a:r>
            <a:endParaRPr lang="en-US" sz="850"/>
          </a:p>
        </p:txBody>
      </p:sp>
      <p:sp>
        <p:nvSpPr>
          <p:cNvPr id="877853947" name="Text 16"/>
          <p:cNvSpPr/>
          <p:nvPr/>
        </p:nvSpPr>
        <p:spPr bwMode="auto">
          <a:xfrm>
            <a:off x="274320" y="3044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r(AccY, AccZ)=−0.616 dependencia significativa</a:t>
            </a:r>
            <a:endParaRPr lang="en-US" sz="850"/>
          </a:p>
        </p:txBody>
      </p:sp>
      <p:sp>
        <p:nvSpPr>
          <p:cNvPr id="240007900" name="Text 17"/>
          <p:cNvSpPr/>
          <p:nvPr/>
        </p:nvSpPr>
        <p:spPr bwMode="auto">
          <a:xfrm>
            <a:off x="274320" y="3310127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BN(3, 0.9355): P(X=3)=0.819 → alta confiabilidad</a:t>
            </a:r>
            <a:endParaRPr lang="en-US" sz="850"/>
          </a:p>
        </p:txBody>
      </p:sp>
      <p:sp>
        <p:nvSpPr>
          <p:cNvPr id="1232789149" name="Text 18"/>
          <p:cNvSpPr/>
          <p:nvPr/>
        </p:nvSpPr>
        <p:spPr bwMode="auto">
          <a:xfrm>
            <a:off x="274320" y="3575303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Dashboard en tiempo real con export Excel</a:t>
            </a:r>
            <a:endParaRPr lang="en-US" sz="850"/>
          </a:p>
        </p:txBody>
      </p:sp>
      <p:sp>
        <p:nvSpPr>
          <p:cNvPr id="811571074" name="Shape 19"/>
          <p:cNvSpPr/>
          <p:nvPr/>
        </p:nvSpPr>
        <p:spPr bwMode="auto">
          <a:xfrm>
            <a:off x="4663440" y="1572768"/>
            <a:ext cx="4251960" cy="22402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980058805" name="Shape 20"/>
          <p:cNvSpPr/>
          <p:nvPr/>
        </p:nvSpPr>
        <p:spPr bwMode="auto">
          <a:xfrm>
            <a:off x="4663440" y="1572768"/>
            <a:ext cx="4251960" cy="347472"/>
          </a:xfrm>
          <a:prstGeom prst="rect">
            <a:avLst/>
          </a:prstGeom>
          <a:solidFill>
            <a:srgbClr val="0055A5"/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1387226403" name="Text 21"/>
          <p:cNvSpPr/>
          <p:nvPr/>
        </p:nvSpPr>
        <p:spPr bwMode="auto">
          <a:xfrm>
            <a:off x="4709160" y="1600200"/>
            <a:ext cx="41605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📌  Conclusiones Estadísticas</a:t>
            </a:r>
            <a:endParaRPr lang="en-US" sz="1000"/>
          </a:p>
        </p:txBody>
      </p:sp>
      <p:sp>
        <p:nvSpPr>
          <p:cNvPr id="281426711" name="Text 22"/>
          <p:cNvSpPr/>
          <p:nvPr/>
        </p:nvSpPr>
        <p:spPr bwMode="auto">
          <a:xfrm>
            <a:off x="4754880" y="19842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Accel Z ~ N(1.034, 0.001); IC95%=[1.021,1.046]g</a:t>
            </a:r>
            <a:endParaRPr lang="en-US" sz="850"/>
          </a:p>
        </p:txBody>
      </p:sp>
      <p:sp>
        <p:nvSpPr>
          <p:cNvPr id="497265278" name="Text 23"/>
          <p:cNvSpPr/>
          <p:nvPr/>
        </p:nvSpPr>
        <p:spPr bwMode="auto">
          <a:xfrm>
            <a:off x="4754880" y="22494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Test Pearson AccY-AccZ: dependencia moderada</a:t>
            </a:r>
            <a:endParaRPr lang="en-US" sz="850"/>
          </a:p>
        </p:txBody>
      </p:sp>
      <p:sp>
        <p:nvSpPr>
          <p:cNvPr id="972928456" name="Text 24"/>
          <p:cNvSpPr/>
          <p:nvPr/>
        </p:nvSpPr>
        <p:spPr bwMode="auto">
          <a:xfrm>
            <a:off x="4754880" y="25146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Gyro Z (CV&gt;300%): variabilidad en yaw alta</a:t>
            </a:r>
            <a:endParaRPr lang="en-US" sz="850"/>
          </a:p>
        </p:txBody>
      </p:sp>
      <p:sp>
        <p:nvSpPr>
          <p:cNvPr id="1822269228" name="Text 25"/>
          <p:cNvSpPr/>
          <p:nvPr/>
        </p:nvSpPr>
        <p:spPr bwMode="auto">
          <a:xfrm>
            <a:off x="4754880" y="27797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BN estima 3.21 disparos hasta 3 estables</a:t>
            </a:r>
            <a:endParaRPr lang="en-US" sz="850"/>
          </a:p>
        </p:txBody>
      </p:sp>
      <p:sp>
        <p:nvSpPr>
          <p:cNvPr id="1689400134" name="Text 26"/>
          <p:cNvSpPr/>
          <p:nvPr/>
        </p:nvSpPr>
        <p:spPr bwMode="auto">
          <a:xfrm>
            <a:off x="4754880" y="30449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93.5% de disparos clasificados como estables</a:t>
            </a:r>
            <a:endParaRPr lang="en-US" sz="850"/>
          </a:p>
        </p:txBody>
      </p:sp>
      <p:sp>
        <p:nvSpPr>
          <p:cNvPr id="1609058749" name="Text 27"/>
          <p:cNvSpPr/>
          <p:nvPr/>
        </p:nvSpPr>
        <p:spPr bwMode="auto">
          <a:xfrm>
            <a:off x="4754880" y="3310127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Gyro X-Y: r=0.660 → acoplamiento rotacional</a:t>
            </a:r>
            <a:endParaRPr lang="en-US" sz="850"/>
          </a:p>
        </p:txBody>
      </p:sp>
      <p:sp>
        <p:nvSpPr>
          <p:cNvPr id="1078137383" name="Text 28"/>
          <p:cNvSpPr/>
          <p:nvPr/>
        </p:nvSpPr>
        <p:spPr bwMode="auto">
          <a:xfrm>
            <a:off x="4754880" y="3575303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Sistema viable para reforestación autónoma</a:t>
            </a:r>
            <a:endParaRPr lang="en-US" sz="850"/>
          </a:p>
        </p:txBody>
      </p:sp>
      <p:sp>
        <p:nvSpPr>
          <p:cNvPr id="87139028" name="Shape 29"/>
          <p:cNvSpPr/>
          <p:nvPr/>
        </p:nvSpPr>
        <p:spPr bwMode="auto">
          <a:xfrm>
            <a:off x="182880" y="3886200"/>
            <a:ext cx="8732520" cy="8046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2035521" name="Text 30"/>
          <p:cNvSpPr/>
          <p:nvPr/>
        </p:nvSpPr>
        <p:spPr bwMode="auto">
          <a:xfrm>
            <a:off x="274320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🔧  Recomendaciones:</a:t>
            </a:r>
            <a:endParaRPr lang="en-US" sz="900"/>
          </a:p>
        </p:txBody>
      </p:sp>
      <p:sp>
        <p:nvSpPr>
          <p:cNvPr id="56106789" name="Text 31"/>
          <p:cNvSpPr/>
          <p:nvPr/>
        </p:nvSpPr>
        <p:spPr bwMode="auto">
          <a:xfrm>
            <a:off x="274320" y="4169664"/>
            <a:ext cx="8549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1A1A1A"/>
                </a:solidFill>
                <a:latin typeface="Arial"/>
                <a:ea typeface="Arial"/>
                <a:cs typeface="Arial"/>
              </a:rPr>
              <a:t>Agregar servo para ángulo de dispersión variable  ·  PWM proporcional en L298N  ·  Aumentar n&gt;100 registros  ·  Módulo GPS para coordenadas por disparo  ·  Validar modelo BN en campo real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0206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904717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26312480" name="Shape 1"/>
          <p:cNvSpPr/>
          <p:nvPr/>
        </p:nvSpPr>
        <p:spPr bwMode="auto">
          <a:xfrm>
            <a:off x="0" y="5093208"/>
            <a:ext cx="914400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620273908" name="Text 2"/>
          <p:cNvSpPr/>
          <p:nvPr/>
        </p:nvSpPr>
        <p:spPr bwMode="auto">
          <a:xfrm>
            <a:off x="914400" y="548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¡Gracias!</a:t>
            </a:r>
            <a:endParaRPr lang="en-US" sz="5200"/>
          </a:p>
        </p:txBody>
      </p:sp>
      <p:sp>
        <p:nvSpPr>
          <p:cNvPr id="432310404" name="Shape 3"/>
          <p:cNvSpPr/>
          <p:nvPr/>
        </p:nvSpPr>
        <p:spPr bwMode="auto">
          <a:xfrm>
            <a:off x="1828800" y="1600200"/>
            <a:ext cx="5486400" cy="0"/>
          </a:xfrm>
          <a:prstGeom prst="line">
            <a:avLst/>
          </a:prstGeom>
          <a:noFill/>
          <a:ln w="25400">
            <a:solidFill>
              <a:srgbClr val="FFC000"/>
            </a:solidFill>
            <a:prstDash val="solid"/>
          </a:ln>
        </p:spPr>
      </p:sp>
      <p:sp>
        <p:nvSpPr>
          <p:cNvPr id="497807127" name="Text 4"/>
          <p:cNvSpPr/>
          <p:nvPr/>
        </p:nvSpPr>
        <p:spPr bwMode="auto">
          <a:xfrm>
            <a:off x="91440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Jeffrey Alejandro Bejarano Parada · 67001609</a:t>
            </a:r>
            <a:endParaRPr lang="en-US" sz="1400"/>
          </a:p>
        </p:txBody>
      </p:sp>
      <p:sp>
        <p:nvSpPr>
          <p:cNvPr id="50604591" name="Text 5"/>
          <p:cNvSpPr/>
          <p:nvPr/>
        </p:nvSpPr>
        <p:spPr bwMode="auto">
          <a:xfrm>
            <a:off x="914400" y="2121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00B0F0"/>
                </a:solidFill>
                <a:latin typeface="Arial"/>
                <a:ea typeface="Arial"/>
                <a:cs typeface="Arial"/>
              </a:rPr>
              <a:t>Sistema Robótico Da Vinci para Reforestación — Análisis Estadístico MPU6050</a:t>
            </a:r>
            <a:endParaRPr lang="en-US" sz="1100"/>
          </a:p>
        </p:txBody>
      </p:sp>
      <p:sp>
        <p:nvSpPr>
          <p:cNvPr id="280304186" name="Text 6"/>
          <p:cNvSpPr/>
          <p:nvPr/>
        </p:nvSpPr>
        <p:spPr bwMode="auto">
          <a:xfrm>
            <a:off x="1371600" y="2578608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  <a:defRPr/>
            </a:pPr>
            <a:r>
              <a:rPr lang="en-US"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🌐 API: </a:t>
            </a: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</a:rPr>
              <a:t>dron-agricola-api-3.onrender.com</a:t>
            </a:r>
            <a:b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</a:rPr>
            </a:br>
            <a:r>
              <a:rPr lang="en-US"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💻 GitHub: </a:t>
            </a: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</a:rPr>
              <a:t>github.com/Jeff07K/DRON_AGRICOLA_API</a:t>
            </a:r>
            <a:b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</a:rPr>
            </a:br>
            <a:r>
              <a:rPr lang="en-US" sz="1200">
                <a:solidFill>
                  <a:srgbClr val="F2F2F2"/>
                </a:solidFill>
                <a:latin typeface="Arial"/>
                <a:ea typeface="Arial"/>
                <a:cs typeface="Arial"/>
              </a:rPr>
              <a:t>📊 ODS 15 🌱 · ODS 9 🏭 · Estadística 2026-1</a:t>
            </a:r>
            <a:endParaRPr lang="en-US" sz="1200"/>
          </a:p>
        </p:txBody>
      </p:sp>
      <p:sp>
        <p:nvSpPr>
          <p:cNvPr id="229972479" name="Text 7"/>
          <p:cNvSpPr/>
          <p:nvPr/>
        </p:nvSpPr>
        <p:spPr bwMode="auto"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8899AA"/>
                </a:solidFill>
                <a:latin typeface="Arial"/>
                <a:ea typeface="Arial"/>
                <a:cs typeface="Arial"/>
              </a:rPr>
              <a:t>Universidad Católica de Colombia · Ingeniería de Sistemas · 2026-1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Robótico Da Vinci — Análisis Estadístico MPU6050</dc:title>
  <dc:subject>PptxGenJS Presentation</dc:subject>
  <dc:creator>Jeffrey Alejandro Bejarano Parada</dc:creator>
  <cp:lastModifiedBy/>
  <cp:revision>2</cp:revision>
  <dcterms:created xsi:type="dcterms:W3CDTF">2026-05-27T11:08:35Z</dcterms:created>
  <dcterms:modified xsi:type="dcterms:W3CDTF">2026-05-27T11:26:14Z</dcterms:modified>
</cp:coreProperties>
</file>